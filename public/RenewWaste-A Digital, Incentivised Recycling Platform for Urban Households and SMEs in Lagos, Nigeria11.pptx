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panose="020F0502020204030204" pitchFamily="34" charset="0"/>
      <p:regular r:id="rId13"/>
      <p:bold r:id="rId14"/>
      <p:italic r:id="rId15"/>
      <p:boldItalic r:id="rId16"/>
    </p:embeddedFont>
    <p:embeddedFont>
      <p:font typeface="Times New Roman" panose="02020603050405020304" pitchFamily="18" charset="0"/>
      <p:regular r:id="rId17"/>
    </p:embeddedFont>
    <p:embeddedFont>
      <p:font typeface="Times New Roman Bold" panose="02020803070505020304" pitchFamily="18"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002" autoAdjust="0"/>
  </p:normalViewPr>
  <p:slideViewPr>
    <p:cSldViewPr>
      <p:cViewPr varScale="1">
        <p:scale>
          <a:sx n="45" d="100"/>
          <a:sy n="45" d="100"/>
        </p:scale>
        <p:origin x="81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11.05.2026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Good day. I am presenting Wate2Wallet, a digital platform solving Lagos's waste crisis. Lagos produces more than </a:t>
            </a:r>
            <a:r>
              <a:rPr lang="en-US" sz="1200" kern="1200" dirty="0">
                <a:solidFill>
                  <a:schemeClr val="tx1"/>
                </a:solidFill>
                <a:effectLst/>
                <a:latin typeface="+mn-lt"/>
                <a:ea typeface="+mn-ea"/>
                <a:cs typeface="+mn-cs"/>
              </a:rPr>
              <a:t>13,000-15,000 tons </a:t>
            </a:r>
            <a:r>
              <a:rPr lang="en-US" dirty="0"/>
              <a:t>of waste every day (</a:t>
            </a:r>
            <a:r>
              <a:rPr lang="en-US" dirty="0" err="1"/>
              <a:t>Opanuga</a:t>
            </a:r>
            <a:r>
              <a:rPr lang="en-US" dirty="0"/>
              <a:t>, 2025), and there is no </a:t>
            </a:r>
            <a:r>
              <a:rPr lang="en-US" dirty="0" err="1"/>
              <a:t>incentivised</a:t>
            </a:r>
            <a:r>
              <a:rPr lang="en-US" dirty="0"/>
              <a:t> and reliable mechanism for household waste to be recycled. That's why we offer airtime rewards, instant Naira payout, and a scheduled pickup. We focus on the middle class and SMEs in Ikeja, </a:t>
            </a:r>
            <a:r>
              <a:rPr lang="en-US" dirty="0" err="1"/>
              <a:t>Yaba</a:t>
            </a:r>
            <a:r>
              <a:rPr lang="en-US" dirty="0"/>
              <a:t>, Surulere, and Lekki, where waste collection costs exceed 5,000 naira per month. Our unique value proposition is turning waste into wallet, scheduled pickup, instant payout, and no hassle. We earn through SME subscriptions, selling recyclables, and brand partnerships. We are reliable, trackable, and pay right away, unlike informal collectors. Our milestones are MVP in month one, pilot in month two, one hundred users by month three, and full launch in month four. Each kilo recycled cleans your community and brings money to your pocket. Join 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According to Osterwalder et al. (2014), the Value Proposition Canvas identifies three types of customer jobs: functional, emotional, and social. Waste2Wallet customers have three types of jobs. In practice, they should be able to get rid of the garbage easily without any storage or </a:t>
            </a:r>
            <a:r>
              <a:rPr lang="en-US" dirty="0" err="1"/>
              <a:t>odour</a:t>
            </a:r>
            <a:r>
              <a:rPr lang="en-US" dirty="0"/>
              <a:t> problems. They also require a reliable and predictable collection system, which does not currently exist. Emotionally, they want to feel a sense of responsibility and contribution to a cleaner </a:t>
            </a:r>
            <a:r>
              <a:rPr lang="en-US" dirty="0" err="1"/>
              <a:t>neighbourhood</a:t>
            </a:r>
            <a:r>
              <a:rPr lang="en-US" dirty="0"/>
              <a:t>. Socially, they want to show that they are environmentally aware in their community. Our platform is not only about the practical disposal issue but also covers all three dimensions.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Using the Value Proposition Canvas framework (Osterwalder et al., 2014), customer pains are the frustrations and risks customers currently experience. Customer pains in Lagos are structural failures. Irregular collection is the norm, with no accountability when it fails. Customers face health risks and pay to dispose of items but don't get a monetary reward for recycling. </a:t>
            </a:r>
            <a:r>
              <a:rPr lang="en-US"/>
              <a:t>Waste2Wallet solves these pains by offering scheduled collection, real-time tracking, and real-time payment.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Customer gains extend beyond financial incentives. According to Schoeman and Rampedi (2022), a clean living environment with reduced waste accumulation is a primary motivator. Ferronato and Torretta (2022) agree that cash incentives can convert waste to income, but only under certain market conditions. Faiz et al. (2024) found that time saved through reliable scheduled pickup is highly valued. Roberts-Lombard and Jaiyeoba (2025) prove that responsible disposal leads to peace of mind and trust. Finally, Etim (2024) shows that social recognition as environmentally conscious citizens matters in urban African communities. Waste2Wallet provides all five gains.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Waste2Wallet has five products and services connected with customer jobs identified in Slide 3. First, a mobile application for requesting waste pickup and tracking collection in real time, addressing the functional need for convenience. Secondly, scheduled waste collection service with fixed weekly collection days, which offers reliability. Third, weight-based instant Naira payment directly to user wallets within the app delivers the financial gain customers seek. Fourth, mobile airtime rewards redeemable through loyalty points, adding a retained incentive. Fifth, an SMS notification system for users without consistent smartphone access, ensuring digital inclusion. Together, these offerings transform waste disposal from a chore into an economically rewarding activity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Waste2Wallet pain relievers are directly addressing each customer’s pain point identified in Slide 4. Fixed weekly pickup schedules eliminate the uncertainty of irregular collection, which Osterwalder et al. (2014) identify as a core pain reliever function. Real-time tracking within the mobile app provides full accountability, a feature currently absent from informal systems. SMS notifications confirm pickup completion and payment status, ensuring transparency. Instant Naira payment upon each collection directly addresses the absence of financial return for recycling. Finally, designated waste containers provided to customers reduce storage </a:t>
            </a:r>
            <a:r>
              <a:rPr lang="en-US" dirty="0" err="1"/>
              <a:t>odour</a:t>
            </a:r>
            <a:r>
              <a:rPr lang="en-US" dirty="0"/>
              <a:t> and pest risks, mitigating health hazards. Collectively, these pain relievers transform waste collection from a frustrating, unreliable service into a predictable, accountable, and rewarding experience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just"/>
            <a:r>
              <a:rPr lang="en-US" sz="1200" b="0" i="0" kern="1200" dirty="0">
                <a:solidFill>
                  <a:schemeClr val="tx1"/>
                </a:solidFill>
                <a:effectLst/>
                <a:latin typeface="+mn-lt"/>
                <a:ea typeface="+mn-ea"/>
                <a:cs typeface="+mn-cs"/>
              </a:rPr>
              <a:t>Gain creators are how Waste2Wallet delivers customer gains. Instant weight-based Naira payment after each collection turns waste into immediate income. Loyalty points redeemable for mobile airtime encourage repeat usage. Transparent weight tracking displayed in the app builds trust through verifiable data. Monthly environmental impact reports showing kilograms diverted from landfill address the emotional gain of contributing to a cleaner community. In-app recognition badges for consistent recycling deliver social recognition. Together, these gain creators transform recycling from an occasional chore into a habit reinforced by financial, informational, and social rewards.</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Reflecting on this venture, I have identified two great challenges. First, integrating informal waste collectors without creating channel conflict or resistance. These actors currently hold the monopoly on waste collection in Lagos, and Waste2Wallet could be seen as a threat to their livelihoods. Second, achieving consistent user participation in a price-sensitive market where convenience and cost dominate decision-making over environmental awareness, as confirmed by </a:t>
            </a:r>
            <a:r>
              <a:rPr lang="en-US" dirty="0" err="1"/>
              <a:t>Ferronato</a:t>
            </a:r>
            <a:r>
              <a:rPr lang="en-US" dirty="0"/>
              <a:t> and </a:t>
            </a:r>
            <a:r>
              <a:rPr lang="en-US" dirty="0" err="1"/>
              <a:t>Torretta</a:t>
            </a:r>
            <a:r>
              <a:rPr lang="en-US" dirty="0"/>
              <a:t> (2022). To overcome these challenges, I need to develop two entrepreneurial skills. Negotiation with stakeholders to develop trust and partnerships with informal collectors without replacing them. Data analytics to monitor waste diversion metrics and user </a:t>
            </a:r>
            <a:r>
              <a:rPr lang="en-US" dirty="0" err="1"/>
              <a:t>behaviours</a:t>
            </a:r>
            <a:r>
              <a:rPr lang="en-US" dirty="0"/>
              <a:t>, allowing for informed decisions on enhancing retention and participation. These skills directly impact the conflict and measurement issues in the channel noted in my earlier report.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8.png"/><Relationship Id="rId18" Type="http://schemas.openxmlformats.org/officeDocument/2006/relationships/image" Target="../media/image12.svg"/><Relationship Id="rId3" Type="http://schemas.openxmlformats.org/officeDocument/2006/relationships/image" Target="../media/image16.png"/><Relationship Id="rId7" Type="http://schemas.openxmlformats.org/officeDocument/2006/relationships/image" Target="../media/image5.png"/><Relationship Id="rId12" Type="http://schemas.openxmlformats.org/officeDocument/2006/relationships/image" Target="../media/image2.svg"/><Relationship Id="rId17" Type="http://schemas.openxmlformats.org/officeDocument/2006/relationships/image" Target="../media/image11.png"/><Relationship Id="rId2" Type="http://schemas.openxmlformats.org/officeDocument/2006/relationships/notesSlide" Target="../notesSlides/notesSlide1.xml"/><Relationship Id="rId16"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1.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10.svg"/><Relationship Id="rId19" Type="http://schemas.openxmlformats.org/officeDocument/2006/relationships/image" Target="../media/image15.png"/><Relationship Id="rId4" Type="http://schemas.openxmlformats.org/officeDocument/2006/relationships/image" Target="../media/image17.svg"/><Relationship Id="rId9" Type="http://schemas.openxmlformats.org/officeDocument/2006/relationships/image" Target="../media/image9.png"/><Relationship Id="rId14" Type="http://schemas.openxmlformats.org/officeDocument/2006/relationships/image" Target="../media/image19.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svg"/><Relationship Id="rId18" Type="http://schemas.openxmlformats.org/officeDocument/2006/relationships/image" Target="../media/image11.png"/><Relationship Id="rId3" Type="http://schemas.openxmlformats.org/officeDocument/2006/relationships/image" Target="../media/image22.png"/><Relationship Id="rId21" Type="http://schemas.openxmlformats.org/officeDocument/2006/relationships/image" Target="../media/image15.png"/><Relationship Id="rId7" Type="http://schemas.openxmlformats.org/officeDocument/2006/relationships/image" Target="../media/image6.svg"/><Relationship Id="rId12" Type="http://schemas.openxmlformats.org/officeDocument/2006/relationships/image" Target="../media/image1.png"/><Relationship Id="rId17" Type="http://schemas.openxmlformats.org/officeDocument/2006/relationships/image" Target="../media/image4.svg"/><Relationship Id="rId2" Type="http://schemas.openxmlformats.org/officeDocument/2006/relationships/notesSlide" Target="../notesSlides/notesSlide2.xml"/><Relationship Id="rId16" Type="http://schemas.openxmlformats.org/officeDocument/2006/relationships/image" Target="../media/image3.png"/><Relationship Id="rId20"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24.png"/><Relationship Id="rId15" Type="http://schemas.openxmlformats.org/officeDocument/2006/relationships/image" Target="../media/image26.svg"/><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23.svg"/><Relationship Id="rId9" Type="http://schemas.openxmlformats.org/officeDocument/2006/relationships/image" Target="../media/image8.sv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2.jpeg"/><Relationship Id="rId3" Type="http://schemas.openxmlformats.org/officeDocument/2006/relationships/image" Target="../media/image1.png"/><Relationship Id="rId7" Type="http://schemas.openxmlformats.org/officeDocument/2006/relationships/image" Target="../media/image28.png"/><Relationship Id="rId12" Type="http://schemas.openxmlformats.org/officeDocument/2006/relationships/image" Target="../media/image31.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3.svg"/><Relationship Id="rId11" Type="http://schemas.openxmlformats.org/officeDocument/2006/relationships/image" Target="../media/image30.png"/><Relationship Id="rId5" Type="http://schemas.openxmlformats.org/officeDocument/2006/relationships/image" Target="../media/image22.png"/><Relationship Id="rId10" Type="http://schemas.openxmlformats.org/officeDocument/2006/relationships/image" Target="../media/image12.svg"/><Relationship Id="rId4" Type="http://schemas.openxmlformats.org/officeDocument/2006/relationships/image" Target="../media/image2.svg"/><Relationship Id="rId9" Type="http://schemas.openxmlformats.org/officeDocument/2006/relationships/image" Target="../media/image11.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4.svg"/><Relationship Id="rId18" Type="http://schemas.openxmlformats.org/officeDocument/2006/relationships/image" Target="../media/image39.png"/><Relationship Id="rId26" Type="http://schemas.openxmlformats.org/officeDocument/2006/relationships/image" Target="../media/image47.svg"/><Relationship Id="rId3" Type="http://schemas.openxmlformats.org/officeDocument/2006/relationships/image" Target="../media/image5.png"/><Relationship Id="rId21" Type="http://schemas.openxmlformats.org/officeDocument/2006/relationships/image" Target="../media/image42.png"/><Relationship Id="rId7" Type="http://schemas.openxmlformats.org/officeDocument/2006/relationships/image" Target="../media/image34.svg"/><Relationship Id="rId12" Type="http://schemas.openxmlformats.org/officeDocument/2006/relationships/image" Target="../media/image3.png"/><Relationship Id="rId17" Type="http://schemas.openxmlformats.org/officeDocument/2006/relationships/image" Target="../media/image12.svg"/><Relationship Id="rId25" Type="http://schemas.openxmlformats.org/officeDocument/2006/relationships/image" Target="../media/image46.png"/><Relationship Id="rId2" Type="http://schemas.openxmlformats.org/officeDocument/2006/relationships/notesSlide" Target="../notesSlides/notesSlide4.xml"/><Relationship Id="rId16" Type="http://schemas.openxmlformats.org/officeDocument/2006/relationships/image" Target="../media/image11.png"/><Relationship Id="rId20" Type="http://schemas.openxmlformats.org/officeDocument/2006/relationships/image" Target="../media/image41.png"/><Relationship Id="rId29"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6.svg"/><Relationship Id="rId24" Type="http://schemas.openxmlformats.org/officeDocument/2006/relationships/image" Target="../media/image45.svg"/><Relationship Id="rId5" Type="http://schemas.openxmlformats.org/officeDocument/2006/relationships/image" Target="../media/image24.png"/><Relationship Id="rId15" Type="http://schemas.openxmlformats.org/officeDocument/2006/relationships/image" Target="../media/image38.svg"/><Relationship Id="rId23" Type="http://schemas.openxmlformats.org/officeDocument/2006/relationships/image" Target="../media/image44.png"/><Relationship Id="rId28" Type="http://schemas.openxmlformats.org/officeDocument/2006/relationships/image" Target="../media/image49.svg"/><Relationship Id="rId10" Type="http://schemas.openxmlformats.org/officeDocument/2006/relationships/image" Target="../media/image35.png"/><Relationship Id="rId19" Type="http://schemas.openxmlformats.org/officeDocument/2006/relationships/image" Target="../media/image40.svg"/><Relationship Id="rId4" Type="http://schemas.openxmlformats.org/officeDocument/2006/relationships/image" Target="../media/image6.svg"/><Relationship Id="rId9" Type="http://schemas.openxmlformats.org/officeDocument/2006/relationships/image" Target="../media/image2.svg"/><Relationship Id="rId14" Type="http://schemas.openxmlformats.org/officeDocument/2006/relationships/image" Target="../media/image37.png"/><Relationship Id="rId22" Type="http://schemas.openxmlformats.org/officeDocument/2006/relationships/image" Target="../media/image43.png"/><Relationship Id="rId27" Type="http://schemas.openxmlformats.org/officeDocument/2006/relationships/image" Target="../media/image48.png"/><Relationship Id="rId30"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5.png"/><Relationship Id="rId18" Type="http://schemas.openxmlformats.org/officeDocument/2006/relationships/image" Target="../media/image56.svg"/><Relationship Id="rId26" Type="http://schemas.openxmlformats.org/officeDocument/2006/relationships/image" Target="../media/image64.svg"/><Relationship Id="rId3" Type="http://schemas.openxmlformats.org/officeDocument/2006/relationships/image" Target="../media/image1.png"/><Relationship Id="rId21" Type="http://schemas.openxmlformats.org/officeDocument/2006/relationships/image" Target="../media/image59.svg"/><Relationship Id="rId7" Type="http://schemas.openxmlformats.org/officeDocument/2006/relationships/image" Target="../media/image9.png"/><Relationship Id="rId12" Type="http://schemas.openxmlformats.org/officeDocument/2006/relationships/image" Target="../media/image54.svg"/><Relationship Id="rId17" Type="http://schemas.openxmlformats.org/officeDocument/2006/relationships/image" Target="../media/image55.png"/><Relationship Id="rId25"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12.svg"/><Relationship Id="rId20" Type="http://schemas.openxmlformats.org/officeDocument/2006/relationships/image" Target="../media/image58.png"/><Relationship Id="rId29"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2.svg"/><Relationship Id="rId11" Type="http://schemas.openxmlformats.org/officeDocument/2006/relationships/image" Target="../media/image53.png"/><Relationship Id="rId24" Type="http://schemas.openxmlformats.org/officeDocument/2006/relationships/image" Target="../media/image62.svg"/><Relationship Id="rId5" Type="http://schemas.openxmlformats.org/officeDocument/2006/relationships/image" Target="../media/image51.png"/><Relationship Id="rId15" Type="http://schemas.openxmlformats.org/officeDocument/2006/relationships/image" Target="../media/image11.png"/><Relationship Id="rId23" Type="http://schemas.openxmlformats.org/officeDocument/2006/relationships/image" Target="../media/image61.png"/><Relationship Id="rId28" Type="http://schemas.openxmlformats.org/officeDocument/2006/relationships/image" Target="../media/image66.svg"/><Relationship Id="rId10" Type="http://schemas.openxmlformats.org/officeDocument/2006/relationships/image" Target="../media/image23.svg"/><Relationship Id="rId19" Type="http://schemas.openxmlformats.org/officeDocument/2006/relationships/image" Target="../media/image57.png"/><Relationship Id="rId4" Type="http://schemas.openxmlformats.org/officeDocument/2006/relationships/image" Target="../media/image2.svg"/><Relationship Id="rId9" Type="http://schemas.openxmlformats.org/officeDocument/2006/relationships/image" Target="../media/image22.png"/><Relationship Id="rId14" Type="http://schemas.openxmlformats.org/officeDocument/2006/relationships/image" Target="../media/image6.svg"/><Relationship Id="rId22" Type="http://schemas.openxmlformats.org/officeDocument/2006/relationships/image" Target="../media/image60.jpeg"/><Relationship Id="rId27" Type="http://schemas.openxmlformats.org/officeDocument/2006/relationships/image" Target="../media/image65.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9.svg"/><Relationship Id="rId18" Type="http://schemas.openxmlformats.org/officeDocument/2006/relationships/image" Target="../media/image11.png"/><Relationship Id="rId3" Type="http://schemas.openxmlformats.org/officeDocument/2006/relationships/image" Target="../media/image9.png"/><Relationship Id="rId21" Type="http://schemas.openxmlformats.org/officeDocument/2006/relationships/image" Target="../media/image68.svg"/><Relationship Id="rId7" Type="http://schemas.openxmlformats.org/officeDocument/2006/relationships/image" Target="../media/image24.png"/><Relationship Id="rId12" Type="http://schemas.openxmlformats.org/officeDocument/2006/relationships/image" Target="../media/image18.png"/><Relationship Id="rId17" Type="http://schemas.openxmlformats.org/officeDocument/2006/relationships/image" Target="../media/image6.svg"/><Relationship Id="rId2" Type="http://schemas.openxmlformats.org/officeDocument/2006/relationships/notesSlide" Target="../notesSlides/notesSlide6.xml"/><Relationship Id="rId16" Type="http://schemas.openxmlformats.org/officeDocument/2006/relationships/image" Target="../media/image5.png"/><Relationship Id="rId20"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svg"/><Relationship Id="rId24" Type="http://schemas.openxmlformats.org/officeDocument/2006/relationships/image" Target="../media/image15.png"/><Relationship Id="rId5" Type="http://schemas.openxmlformats.org/officeDocument/2006/relationships/image" Target="../media/image16.png"/><Relationship Id="rId15" Type="http://schemas.openxmlformats.org/officeDocument/2006/relationships/image" Target="../media/image29.svg"/><Relationship Id="rId23" Type="http://schemas.openxmlformats.org/officeDocument/2006/relationships/image" Target="../media/image70.svg"/><Relationship Id="rId10" Type="http://schemas.openxmlformats.org/officeDocument/2006/relationships/image" Target="../media/image1.png"/><Relationship Id="rId19" Type="http://schemas.openxmlformats.org/officeDocument/2006/relationships/image" Target="../media/image12.svg"/><Relationship Id="rId4" Type="http://schemas.openxmlformats.org/officeDocument/2006/relationships/image" Target="../media/image10.sv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69.png"/></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11.png"/><Relationship Id="rId18" Type="http://schemas.openxmlformats.org/officeDocument/2006/relationships/image" Target="../media/image72.png"/><Relationship Id="rId26" Type="http://schemas.openxmlformats.org/officeDocument/2006/relationships/image" Target="../media/image15.png"/><Relationship Id="rId3" Type="http://schemas.openxmlformats.org/officeDocument/2006/relationships/image" Target="../media/image1.png"/><Relationship Id="rId21" Type="http://schemas.openxmlformats.org/officeDocument/2006/relationships/image" Target="../media/image75.svg"/><Relationship Id="rId7" Type="http://schemas.openxmlformats.org/officeDocument/2006/relationships/image" Target="../media/image22.png"/><Relationship Id="rId12" Type="http://schemas.openxmlformats.org/officeDocument/2006/relationships/image" Target="../media/image6.svg"/><Relationship Id="rId17" Type="http://schemas.openxmlformats.org/officeDocument/2006/relationships/image" Target="../media/image71.png"/><Relationship Id="rId25" Type="http://schemas.openxmlformats.org/officeDocument/2006/relationships/image" Target="../media/image79.svg"/><Relationship Id="rId2" Type="http://schemas.openxmlformats.org/officeDocument/2006/relationships/notesSlide" Target="../notesSlides/notesSlide7.xml"/><Relationship Id="rId16" Type="http://schemas.openxmlformats.org/officeDocument/2006/relationships/image" Target="../media/image56.svg"/><Relationship Id="rId20"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52.svg"/><Relationship Id="rId11" Type="http://schemas.openxmlformats.org/officeDocument/2006/relationships/image" Target="../media/image5.png"/><Relationship Id="rId24" Type="http://schemas.openxmlformats.org/officeDocument/2006/relationships/image" Target="../media/image78.png"/><Relationship Id="rId5" Type="http://schemas.openxmlformats.org/officeDocument/2006/relationships/image" Target="../media/image51.png"/><Relationship Id="rId15" Type="http://schemas.openxmlformats.org/officeDocument/2006/relationships/image" Target="../media/image55.png"/><Relationship Id="rId23" Type="http://schemas.openxmlformats.org/officeDocument/2006/relationships/image" Target="../media/image77.svg"/><Relationship Id="rId10" Type="http://schemas.openxmlformats.org/officeDocument/2006/relationships/image" Target="../media/image54.svg"/><Relationship Id="rId19" Type="http://schemas.openxmlformats.org/officeDocument/2006/relationships/image" Target="../media/image73.png"/><Relationship Id="rId4" Type="http://schemas.openxmlformats.org/officeDocument/2006/relationships/image" Target="../media/image2.svg"/><Relationship Id="rId9" Type="http://schemas.openxmlformats.org/officeDocument/2006/relationships/image" Target="../media/image53.png"/><Relationship Id="rId14" Type="http://schemas.openxmlformats.org/officeDocument/2006/relationships/image" Target="../media/image12.svg"/><Relationship Id="rId22" Type="http://schemas.openxmlformats.org/officeDocument/2006/relationships/image" Target="../media/image76.png"/></Relationships>
</file>

<file path=ppt/slides/_rels/slide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80.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15.png"/><Relationship Id="rId5" Type="http://schemas.openxmlformats.org/officeDocument/2006/relationships/image" Target="../media/image18.png"/><Relationship Id="rId10" Type="http://schemas.openxmlformats.org/officeDocument/2006/relationships/image" Target="../media/image12.svg"/><Relationship Id="rId4" Type="http://schemas.openxmlformats.org/officeDocument/2006/relationships/image" Target="../media/image81.sv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hyperlink" Target="https://guardian.ng/news/nigeria/metro/lagos-generates-13000-tonnes-of-waste-daily-official/" TargetMode="External"/><Relationship Id="rId3" Type="http://schemas.openxmlformats.org/officeDocument/2006/relationships/image" Target="../media/image12.svg"/><Relationship Id="rId7" Type="http://schemas.openxmlformats.org/officeDocument/2006/relationships/hyperlink" Target="https://doi.org/10.1016/j.jik.2024.100610" TargetMode="External"/><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hyperlink" Target="https://doi.org/10.1016/j.clwas.2024.100173" TargetMode="External"/><Relationship Id="rId11" Type="http://schemas.openxmlformats.org/officeDocument/2006/relationships/image" Target="../media/image15.png"/><Relationship Id="rId5" Type="http://schemas.openxmlformats.org/officeDocument/2006/relationships/image" Target="../media/image8.svg"/><Relationship Id="rId10" Type="http://schemas.openxmlformats.org/officeDocument/2006/relationships/hyperlink" Target="https://doi.org/10.3390/ijerph19106229" TargetMode="External"/><Relationship Id="rId4" Type="http://schemas.openxmlformats.org/officeDocument/2006/relationships/image" Target="../media/image7.png"/><Relationship Id="rId9" Type="http://schemas.openxmlformats.org/officeDocument/2006/relationships/hyperlink" Target="https://sajems.org/index.php/sajems/article/view/6160/357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6021205" y="5395982"/>
            <a:ext cx="3363158" cy="2617148"/>
          </a:xfrm>
          <a:custGeom>
            <a:avLst/>
            <a:gdLst/>
            <a:ahLst/>
            <a:cxnLst/>
            <a:rect l="l" t="t" r="r" b="b"/>
            <a:pathLst>
              <a:path w="3363158" h="2617148">
                <a:moveTo>
                  <a:pt x="3363158" y="0"/>
                </a:moveTo>
                <a:lnTo>
                  <a:pt x="0" y="0"/>
                </a:lnTo>
                <a:lnTo>
                  <a:pt x="0" y="2617149"/>
                </a:lnTo>
                <a:lnTo>
                  <a:pt x="3363158" y="2617149"/>
                </a:lnTo>
                <a:lnTo>
                  <a:pt x="336315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68567" y="4621564"/>
            <a:ext cx="2676743" cy="2082993"/>
          </a:xfrm>
          <a:custGeom>
            <a:avLst/>
            <a:gdLst/>
            <a:ahLst/>
            <a:cxnLst/>
            <a:rect l="l" t="t" r="r" b="b"/>
            <a:pathLst>
              <a:path w="2676743" h="2082993">
                <a:moveTo>
                  <a:pt x="0" y="0"/>
                </a:moveTo>
                <a:lnTo>
                  <a:pt x="2676743" y="0"/>
                </a:lnTo>
                <a:lnTo>
                  <a:pt x="2676743" y="2082992"/>
                </a:lnTo>
                <a:lnTo>
                  <a:pt x="0" y="20829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7246478" y="6585367"/>
            <a:ext cx="16099503" cy="5345865"/>
            <a:chOff x="0" y="0"/>
            <a:chExt cx="4240198" cy="1407965"/>
          </a:xfrm>
        </p:grpSpPr>
        <p:sp>
          <p:nvSpPr>
            <p:cNvPr id="5" name="Freeform 5"/>
            <p:cNvSpPr/>
            <p:nvPr/>
          </p:nvSpPr>
          <p:spPr>
            <a:xfrm>
              <a:off x="0" y="0"/>
              <a:ext cx="4240198" cy="1407965"/>
            </a:xfrm>
            <a:custGeom>
              <a:avLst/>
              <a:gdLst/>
              <a:ahLst/>
              <a:cxnLst/>
              <a:rect l="l" t="t" r="r" b="b"/>
              <a:pathLst>
                <a:path w="4240198" h="1407965">
                  <a:moveTo>
                    <a:pt x="2120099" y="0"/>
                  </a:moveTo>
                  <a:cubicBezTo>
                    <a:pt x="949201" y="0"/>
                    <a:pt x="0" y="315184"/>
                    <a:pt x="0" y="703982"/>
                  </a:cubicBezTo>
                  <a:cubicBezTo>
                    <a:pt x="0" y="1092781"/>
                    <a:pt x="949201" y="1407965"/>
                    <a:pt x="2120099" y="1407965"/>
                  </a:cubicBezTo>
                  <a:cubicBezTo>
                    <a:pt x="3290998" y="1407965"/>
                    <a:pt x="4240198" y="1092781"/>
                    <a:pt x="4240198" y="703982"/>
                  </a:cubicBezTo>
                  <a:cubicBezTo>
                    <a:pt x="4240198" y="315184"/>
                    <a:pt x="3290998" y="0"/>
                    <a:pt x="2120099" y="0"/>
                  </a:cubicBezTo>
                  <a:close/>
                </a:path>
              </a:pathLst>
            </a:custGeom>
            <a:gradFill rotWithShape="1">
              <a:gsLst>
                <a:gs pos="0">
                  <a:srgbClr val="98C850">
                    <a:alpha val="100000"/>
                  </a:srgbClr>
                </a:gs>
                <a:gs pos="100000">
                  <a:srgbClr val="84B83D">
                    <a:alpha val="100000"/>
                  </a:srgbClr>
                </a:gs>
              </a:gsLst>
              <a:lin ang="5400000"/>
            </a:gradFill>
          </p:spPr>
        </p:sp>
        <p:sp>
          <p:nvSpPr>
            <p:cNvPr id="6" name="TextBox 6"/>
            <p:cNvSpPr txBox="1"/>
            <p:nvPr/>
          </p:nvSpPr>
          <p:spPr>
            <a:xfrm>
              <a:off x="397519" y="93897"/>
              <a:ext cx="3445161" cy="1182071"/>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9144000" y="7427790"/>
            <a:ext cx="12472859" cy="4131433"/>
            <a:chOff x="0" y="0"/>
            <a:chExt cx="3285033" cy="1088114"/>
          </a:xfrm>
        </p:grpSpPr>
        <p:sp>
          <p:nvSpPr>
            <p:cNvPr id="8" name="Freeform 8"/>
            <p:cNvSpPr/>
            <p:nvPr/>
          </p:nvSpPr>
          <p:spPr>
            <a:xfrm>
              <a:off x="0" y="0"/>
              <a:ext cx="3285033" cy="1088114"/>
            </a:xfrm>
            <a:custGeom>
              <a:avLst/>
              <a:gdLst/>
              <a:ahLst/>
              <a:cxnLst/>
              <a:rect l="l" t="t" r="r" b="b"/>
              <a:pathLst>
                <a:path w="3285033" h="1088114">
                  <a:moveTo>
                    <a:pt x="1642516" y="0"/>
                  </a:moveTo>
                  <a:cubicBezTo>
                    <a:pt x="735380" y="0"/>
                    <a:pt x="0" y="243583"/>
                    <a:pt x="0" y="544057"/>
                  </a:cubicBezTo>
                  <a:cubicBezTo>
                    <a:pt x="0" y="844531"/>
                    <a:pt x="735380" y="1088114"/>
                    <a:pt x="1642516" y="1088114"/>
                  </a:cubicBezTo>
                  <a:cubicBezTo>
                    <a:pt x="2549653" y="1088114"/>
                    <a:pt x="3285033" y="844531"/>
                    <a:pt x="3285033" y="544057"/>
                  </a:cubicBezTo>
                  <a:cubicBezTo>
                    <a:pt x="3285033" y="243583"/>
                    <a:pt x="2549653" y="0"/>
                    <a:pt x="1642516" y="0"/>
                  </a:cubicBezTo>
                  <a:close/>
                </a:path>
              </a:pathLst>
            </a:custGeom>
            <a:gradFill rotWithShape="1">
              <a:gsLst>
                <a:gs pos="0">
                  <a:srgbClr val="DDD91D">
                    <a:alpha val="100000"/>
                  </a:srgbClr>
                </a:gs>
                <a:gs pos="100000">
                  <a:srgbClr val="92BF2C">
                    <a:alpha val="100000"/>
                  </a:srgbClr>
                </a:gs>
              </a:gsLst>
              <a:lin ang="5400000"/>
            </a:gradFill>
          </p:spPr>
        </p:sp>
        <p:sp>
          <p:nvSpPr>
            <p:cNvPr id="9" name="TextBox 9"/>
            <p:cNvSpPr txBox="1"/>
            <p:nvPr/>
          </p:nvSpPr>
          <p:spPr>
            <a:xfrm>
              <a:off x="307972" y="63911"/>
              <a:ext cx="2669089" cy="922193"/>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5594252" y="2870487"/>
            <a:ext cx="6019327" cy="1751077"/>
          </a:xfrm>
          <a:custGeom>
            <a:avLst/>
            <a:gdLst/>
            <a:ahLst/>
            <a:cxnLst/>
            <a:rect l="l" t="t" r="r" b="b"/>
            <a:pathLst>
              <a:path w="6019327" h="1751077">
                <a:moveTo>
                  <a:pt x="0" y="0"/>
                </a:moveTo>
                <a:lnTo>
                  <a:pt x="6019328" y="0"/>
                </a:lnTo>
                <a:lnTo>
                  <a:pt x="6019328" y="1751077"/>
                </a:lnTo>
                <a:lnTo>
                  <a:pt x="0" y="17510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2559095" y="1723049"/>
            <a:ext cx="6019327" cy="1751077"/>
          </a:xfrm>
          <a:custGeom>
            <a:avLst/>
            <a:gdLst/>
            <a:ahLst/>
            <a:cxnLst/>
            <a:rect l="l" t="t" r="r" b="b"/>
            <a:pathLst>
              <a:path w="6019327" h="1751077">
                <a:moveTo>
                  <a:pt x="0" y="0"/>
                </a:moveTo>
                <a:lnTo>
                  <a:pt x="6019327" y="0"/>
                </a:lnTo>
                <a:lnTo>
                  <a:pt x="6019327" y="1751077"/>
                </a:lnTo>
                <a:lnTo>
                  <a:pt x="0" y="17510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flipH="1">
            <a:off x="7018610" y="1240435"/>
            <a:ext cx="3877837" cy="1128098"/>
          </a:xfrm>
          <a:custGeom>
            <a:avLst/>
            <a:gdLst/>
            <a:ahLst/>
            <a:cxnLst/>
            <a:rect l="l" t="t" r="r" b="b"/>
            <a:pathLst>
              <a:path w="3877837" h="1128098">
                <a:moveTo>
                  <a:pt x="3877837" y="0"/>
                </a:moveTo>
                <a:lnTo>
                  <a:pt x="0" y="0"/>
                </a:lnTo>
                <a:lnTo>
                  <a:pt x="0" y="1128098"/>
                </a:lnTo>
                <a:lnTo>
                  <a:pt x="3877837" y="1128098"/>
                </a:lnTo>
                <a:lnTo>
                  <a:pt x="387783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5194202" y="1064432"/>
            <a:ext cx="1794611" cy="1823977"/>
          </a:xfrm>
          <a:custGeom>
            <a:avLst/>
            <a:gdLst/>
            <a:ahLst/>
            <a:cxnLst/>
            <a:rect l="l" t="t" r="r" b="b"/>
            <a:pathLst>
              <a:path w="1794611" h="1823977">
                <a:moveTo>
                  <a:pt x="0" y="0"/>
                </a:moveTo>
                <a:lnTo>
                  <a:pt x="1794611" y="0"/>
                </a:lnTo>
                <a:lnTo>
                  <a:pt x="1794611" y="1823977"/>
                </a:lnTo>
                <a:lnTo>
                  <a:pt x="0" y="182397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4" name="Group 14"/>
          <p:cNvGrpSpPr/>
          <p:nvPr/>
        </p:nvGrpSpPr>
        <p:grpSpPr>
          <a:xfrm>
            <a:off x="-2112439" y="7703540"/>
            <a:ext cx="16099503" cy="9907199"/>
            <a:chOff x="0" y="0"/>
            <a:chExt cx="4240198" cy="2609303"/>
          </a:xfrm>
        </p:grpSpPr>
        <p:sp>
          <p:nvSpPr>
            <p:cNvPr id="15" name="Freeform 15"/>
            <p:cNvSpPr/>
            <p:nvPr/>
          </p:nvSpPr>
          <p:spPr>
            <a:xfrm>
              <a:off x="0" y="0"/>
              <a:ext cx="4240198" cy="2609304"/>
            </a:xfrm>
            <a:custGeom>
              <a:avLst/>
              <a:gdLst/>
              <a:ahLst/>
              <a:cxnLst/>
              <a:rect l="l" t="t" r="r" b="b"/>
              <a:pathLst>
                <a:path w="4240198" h="2609304">
                  <a:moveTo>
                    <a:pt x="2120099" y="0"/>
                  </a:moveTo>
                  <a:cubicBezTo>
                    <a:pt x="949201" y="0"/>
                    <a:pt x="0" y="584112"/>
                    <a:pt x="0" y="1304652"/>
                  </a:cubicBezTo>
                  <a:cubicBezTo>
                    <a:pt x="0" y="2025191"/>
                    <a:pt x="949201" y="2609304"/>
                    <a:pt x="2120099" y="2609304"/>
                  </a:cubicBezTo>
                  <a:cubicBezTo>
                    <a:pt x="3290998" y="2609304"/>
                    <a:pt x="4240198" y="2025191"/>
                    <a:pt x="4240198" y="1304652"/>
                  </a:cubicBezTo>
                  <a:cubicBezTo>
                    <a:pt x="4240198" y="584112"/>
                    <a:pt x="3290998" y="0"/>
                    <a:pt x="2120099" y="0"/>
                  </a:cubicBezTo>
                  <a:close/>
                </a:path>
              </a:pathLst>
            </a:custGeom>
            <a:gradFill rotWithShape="1">
              <a:gsLst>
                <a:gs pos="0">
                  <a:srgbClr val="23AC3A">
                    <a:alpha val="100000"/>
                  </a:srgbClr>
                </a:gs>
                <a:gs pos="100000">
                  <a:srgbClr val="81CC7D">
                    <a:alpha val="100000"/>
                  </a:srgbClr>
                </a:gs>
              </a:gsLst>
              <a:lin ang="5400000"/>
            </a:gradFill>
          </p:spPr>
        </p:sp>
        <p:sp>
          <p:nvSpPr>
            <p:cNvPr id="16" name="TextBox 16"/>
            <p:cNvSpPr txBox="1"/>
            <p:nvPr/>
          </p:nvSpPr>
          <p:spPr>
            <a:xfrm>
              <a:off x="397519" y="206522"/>
              <a:ext cx="3445161" cy="2158159"/>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a:off x="-794799" y="2856660"/>
            <a:ext cx="2326732" cy="4114800"/>
          </a:xfrm>
          <a:custGeom>
            <a:avLst/>
            <a:gdLst/>
            <a:ahLst/>
            <a:cxnLst/>
            <a:rect l="l" t="t" r="r" b="b"/>
            <a:pathLst>
              <a:path w="2326732" h="4114800">
                <a:moveTo>
                  <a:pt x="0" y="0"/>
                </a:moveTo>
                <a:lnTo>
                  <a:pt x="2326732" y="0"/>
                </a:lnTo>
                <a:lnTo>
                  <a:pt x="232673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8" name="Group 18"/>
          <p:cNvGrpSpPr/>
          <p:nvPr/>
        </p:nvGrpSpPr>
        <p:grpSpPr>
          <a:xfrm>
            <a:off x="1706938" y="8385533"/>
            <a:ext cx="7097514" cy="1473573"/>
            <a:chOff x="0" y="0"/>
            <a:chExt cx="1869304" cy="388101"/>
          </a:xfrm>
        </p:grpSpPr>
        <p:sp>
          <p:nvSpPr>
            <p:cNvPr id="19" name="Freeform 19"/>
            <p:cNvSpPr/>
            <p:nvPr/>
          </p:nvSpPr>
          <p:spPr>
            <a:xfrm>
              <a:off x="0" y="0"/>
              <a:ext cx="1869304" cy="388102"/>
            </a:xfrm>
            <a:custGeom>
              <a:avLst/>
              <a:gdLst/>
              <a:ahLst/>
              <a:cxnLst/>
              <a:rect l="l" t="t" r="r" b="b"/>
              <a:pathLst>
                <a:path w="1869304" h="388102">
                  <a:moveTo>
                    <a:pt x="934652" y="0"/>
                  </a:moveTo>
                  <a:cubicBezTo>
                    <a:pt x="418458" y="0"/>
                    <a:pt x="0" y="86879"/>
                    <a:pt x="0" y="194051"/>
                  </a:cubicBezTo>
                  <a:cubicBezTo>
                    <a:pt x="0" y="301222"/>
                    <a:pt x="418458" y="388102"/>
                    <a:pt x="934652" y="388102"/>
                  </a:cubicBezTo>
                  <a:cubicBezTo>
                    <a:pt x="1450846" y="388102"/>
                    <a:pt x="1869304" y="301222"/>
                    <a:pt x="1869304" y="194051"/>
                  </a:cubicBezTo>
                  <a:cubicBezTo>
                    <a:pt x="1869304" y="86879"/>
                    <a:pt x="1450846" y="0"/>
                    <a:pt x="934652" y="0"/>
                  </a:cubicBezTo>
                  <a:close/>
                </a:path>
              </a:pathLst>
            </a:custGeom>
            <a:solidFill>
              <a:srgbClr val="089D40"/>
            </a:solidFill>
          </p:spPr>
        </p:sp>
        <p:sp>
          <p:nvSpPr>
            <p:cNvPr id="20" name="TextBox 20"/>
            <p:cNvSpPr txBox="1"/>
            <p:nvPr/>
          </p:nvSpPr>
          <p:spPr>
            <a:xfrm>
              <a:off x="175247" y="-1715"/>
              <a:ext cx="1518810" cy="353432"/>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a:off x="1288802" y="7187753"/>
            <a:ext cx="486262" cy="480073"/>
          </a:xfrm>
          <a:custGeom>
            <a:avLst/>
            <a:gdLst/>
            <a:ahLst/>
            <a:cxnLst/>
            <a:rect l="l" t="t" r="r" b="b"/>
            <a:pathLst>
              <a:path w="486262" h="480073">
                <a:moveTo>
                  <a:pt x="0" y="0"/>
                </a:moveTo>
                <a:lnTo>
                  <a:pt x="486262" y="0"/>
                </a:lnTo>
                <a:lnTo>
                  <a:pt x="486262" y="480073"/>
                </a:lnTo>
                <a:lnTo>
                  <a:pt x="0" y="48007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2" name="Freeform 22"/>
          <p:cNvSpPr/>
          <p:nvPr/>
        </p:nvSpPr>
        <p:spPr>
          <a:xfrm>
            <a:off x="8679649" y="1542034"/>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3" name="Freeform 23"/>
          <p:cNvSpPr/>
          <p:nvPr/>
        </p:nvSpPr>
        <p:spPr>
          <a:xfrm>
            <a:off x="3648384" y="857531"/>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4" name="Freeform 24"/>
          <p:cNvSpPr/>
          <p:nvPr/>
        </p:nvSpPr>
        <p:spPr>
          <a:xfrm>
            <a:off x="17356032" y="3897312"/>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5" name="Freeform 25"/>
          <p:cNvSpPr/>
          <p:nvPr/>
        </p:nvSpPr>
        <p:spPr>
          <a:xfrm rot="313706">
            <a:off x="13050486" y="7004584"/>
            <a:ext cx="6036743" cy="3248865"/>
          </a:xfrm>
          <a:custGeom>
            <a:avLst/>
            <a:gdLst/>
            <a:ahLst/>
            <a:cxnLst/>
            <a:rect l="l" t="t" r="r" b="b"/>
            <a:pathLst>
              <a:path w="6036743" h="3248865">
                <a:moveTo>
                  <a:pt x="0" y="0"/>
                </a:moveTo>
                <a:lnTo>
                  <a:pt x="6036744" y="0"/>
                </a:lnTo>
                <a:lnTo>
                  <a:pt x="6036744" y="3248866"/>
                </a:lnTo>
                <a:lnTo>
                  <a:pt x="0" y="324886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26" name="Group 26"/>
          <p:cNvGrpSpPr/>
          <p:nvPr/>
        </p:nvGrpSpPr>
        <p:grpSpPr>
          <a:xfrm>
            <a:off x="1288802" y="1713204"/>
            <a:ext cx="15610697" cy="7780303"/>
            <a:chOff x="0" y="0"/>
            <a:chExt cx="4111459" cy="2049133"/>
          </a:xfrm>
        </p:grpSpPr>
        <p:sp>
          <p:nvSpPr>
            <p:cNvPr id="27" name="Freeform 27"/>
            <p:cNvSpPr/>
            <p:nvPr/>
          </p:nvSpPr>
          <p:spPr>
            <a:xfrm>
              <a:off x="0" y="0"/>
              <a:ext cx="4111459" cy="2049133"/>
            </a:xfrm>
            <a:custGeom>
              <a:avLst/>
              <a:gdLst/>
              <a:ahLst/>
              <a:cxnLst/>
              <a:rect l="l" t="t" r="r" b="b"/>
              <a:pathLst>
                <a:path w="4111459" h="2049133">
                  <a:moveTo>
                    <a:pt x="0" y="0"/>
                  </a:moveTo>
                  <a:lnTo>
                    <a:pt x="4111459" y="0"/>
                  </a:lnTo>
                  <a:lnTo>
                    <a:pt x="4111459" y="2049133"/>
                  </a:lnTo>
                  <a:lnTo>
                    <a:pt x="0" y="2049133"/>
                  </a:lnTo>
                  <a:close/>
                </a:path>
              </a:pathLst>
            </a:custGeom>
            <a:solidFill>
              <a:srgbClr val="38B349"/>
            </a:solidFill>
          </p:spPr>
        </p:sp>
        <p:sp>
          <p:nvSpPr>
            <p:cNvPr id="28" name="TextBox 28"/>
            <p:cNvSpPr txBox="1"/>
            <p:nvPr/>
          </p:nvSpPr>
          <p:spPr>
            <a:xfrm>
              <a:off x="0" y="-38100"/>
              <a:ext cx="4111459" cy="2087233"/>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6089774" y="2112220"/>
            <a:ext cx="6825242" cy="1400472"/>
            <a:chOff x="0" y="0"/>
            <a:chExt cx="9100322" cy="1867297"/>
          </a:xfrm>
        </p:grpSpPr>
        <p:sp>
          <p:nvSpPr>
            <p:cNvPr id="30" name="TextBox 30"/>
            <p:cNvSpPr txBox="1"/>
            <p:nvPr/>
          </p:nvSpPr>
          <p:spPr>
            <a:xfrm>
              <a:off x="1788442" y="375365"/>
              <a:ext cx="7311880" cy="1062878"/>
            </a:xfrm>
            <a:prstGeom prst="rect">
              <a:avLst/>
            </a:prstGeom>
          </p:spPr>
          <p:txBody>
            <a:bodyPr lIns="0" tIns="0" rIns="0" bIns="0" rtlCol="0" anchor="t">
              <a:spAutoFit/>
            </a:bodyPr>
            <a:lstStyle/>
            <a:p>
              <a:pPr algn="l">
                <a:lnSpc>
                  <a:spcPts val="5602"/>
                </a:lnSpc>
              </a:pPr>
              <a:r>
                <a:rPr lang="en-US" sz="5602" b="1">
                  <a:solidFill>
                    <a:srgbClr val="FFFFFF"/>
                  </a:solidFill>
                  <a:latin typeface="Times New Roman Bold"/>
                  <a:ea typeface="Times New Roman Bold"/>
                  <a:cs typeface="Times New Roman Bold"/>
                  <a:sym typeface="Times New Roman Bold"/>
                </a:rPr>
                <a:t>Waste2Wallet</a:t>
              </a:r>
            </a:p>
          </p:txBody>
        </p:sp>
        <p:sp>
          <p:nvSpPr>
            <p:cNvPr id="31" name="Freeform 31"/>
            <p:cNvSpPr/>
            <p:nvPr/>
          </p:nvSpPr>
          <p:spPr>
            <a:xfrm>
              <a:off x="0" y="0"/>
              <a:ext cx="1867297" cy="1867297"/>
            </a:xfrm>
            <a:custGeom>
              <a:avLst/>
              <a:gdLst/>
              <a:ahLst/>
              <a:cxnLst/>
              <a:rect l="l" t="t" r="r" b="b"/>
              <a:pathLst>
                <a:path w="1867297" h="1867297">
                  <a:moveTo>
                    <a:pt x="0" y="0"/>
                  </a:moveTo>
                  <a:lnTo>
                    <a:pt x="1867297" y="0"/>
                  </a:lnTo>
                  <a:lnTo>
                    <a:pt x="1867297" y="1867297"/>
                  </a:lnTo>
                  <a:lnTo>
                    <a:pt x="0" y="1867297"/>
                  </a:lnTo>
                  <a:lnTo>
                    <a:pt x="0" y="0"/>
                  </a:lnTo>
                  <a:close/>
                </a:path>
              </a:pathLst>
            </a:custGeom>
            <a:blipFill>
              <a:blip r:embed="rId16"/>
              <a:stretch>
                <a:fillRect/>
              </a:stretch>
            </a:blipFill>
          </p:spPr>
        </p:sp>
      </p:grpSp>
      <p:sp>
        <p:nvSpPr>
          <p:cNvPr id="32" name="TextBox 32"/>
          <p:cNvSpPr txBox="1"/>
          <p:nvPr/>
        </p:nvSpPr>
        <p:spPr>
          <a:xfrm>
            <a:off x="1853204" y="4336040"/>
            <a:ext cx="13999642" cy="1308050"/>
          </a:xfrm>
          <a:prstGeom prst="rect">
            <a:avLst/>
          </a:prstGeom>
        </p:spPr>
        <p:txBody>
          <a:bodyPr lIns="0" tIns="0" rIns="0" bIns="0" rtlCol="0" anchor="t">
            <a:spAutoFit/>
          </a:bodyPr>
          <a:lstStyle/>
          <a:p>
            <a:pPr algn="ctr">
              <a:lnSpc>
                <a:spcPts val="5100"/>
              </a:lnSpc>
            </a:pPr>
            <a:r>
              <a:rPr lang="en-US" sz="4400" dirty="0" err="1">
                <a:solidFill>
                  <a:srgbClr val="FFFFFF"/>
                </a:solidFill>
                <a:latin typeface="Times New Roman Bold"/>
                <a:ea typeface="Times New Roman Bold"/>
                <a:cs typeface="Times New Roman Bold"/>
                <a:sym typeface="Times New Roman Bold"/>
              </a:rPr>
              <a:t>RenewWaste</a:t>
            </a:r>
            <a:r>
              <a:rPr lang="en-US" sz="4400" dirty="0">
                <a:solidFill>
                  <a:srgbClr val="FFFFFF"/>
                </a:solidFill>
                <a:latin typeface="Times New Roman Bold"/>
                <a:ea typeface="Times New Roman Bold"/>
                <a:cs typeface="Times New Roman Bold"/>
                <a:sym typeface="Times New Roman Bold"/>
              </a:rPr>
              <a:t>: A Digital, </a:t>
            </a:r>
            <a:r>
              <a:rPr lang="en-US" sz="4400" dirty="0" err="1">
                <a:solidFill>
                  <a:srgbClr val="FFFFFF"/>
                </a:solidFill>
                <a:latin typeface="Times New Roman Bold"/>
                <a:ea typeface="Times New Roman Bold"/>
                <a:cs typeface="Times New Roman Bold"/>
                <a:sym typeface="Times New Roman Bold"/>
              </a:rPr>
              <a:t>Incentivised</a:t>
            </a:r>
            <a:r>
              <a:rPr lang="en-US" sz="4400" dirty="0">
                <a:solidFill>
                  <a:srgbClr val="FFFFFF"/>
                </a:solidFill>
                <a:latin typeface="Times New Roman Bold"/>
                <a:ea typeface="Times New Roman Bold"/>
                <a:cs typeface="Times New Roman Bold"/>
                <a:sym typeface="Times New Roman Bold"/>
              </a:rPr>
              <a:t> Recycling Platform for Urban Households and SMEs in Lagos, Nigeria</a:t>
            </a:r>
          </a:p>
        </p:txBody>
      </p:sp>
      <p:sp>
        <p:nvSpPr>
          <p:cNvPr id="34" name="TextBox 34"/>
          <p:cNvSpPr txBox="1"/>
          <p:nvPr/>
        </p:nvSpPr>
        <p:spPr>
          <a:xfrm>
            <a:off x="1663395" y="6836407"/>
            <a:ext cx="13999642" cy="1358278"/>
          </a:xfrm>
          <a:prstGeom prst="rect">
            <a:avLst/>
          </a:prstGeom>
        </p:spPr>
        <p:txBody>
          <a:bodyPr lIns="0" tIns="0" rIns="0" bIns="0" rtlCol="0" anchor="t">
            <a:spAutoFit/>
          </a:bodyPr>
          <a:lstStyle/>
          <a:p>
            <a:pPr algn="ctr">
              <a:lnSpc>
                <a:spcPts val="5100"/>
              </a:lnSpc>
            </a:pPr>
            <a:r>
              <a:rPr lang="en-US" sz="5100" dirty="0">
                <a:solidFill>
                  <a:srgbClr val="FFFFFF"/>
                </a:solidFill>
                <a:latin typeface="Times New Roman"/>
                <a:ea typeface="Times New Roman"/>
                <a:cs typeface="Times New Roman"/>
                <a:sym typeface="Times New Roman"/>
              </a:rPr>
              <a:t> Strategic Innovation and Entrepreneurship</a:t>
            </a:r>
          </a:p>
          <a:p>
            <a:pPr algn="ctr">
              <a:lnSpc>
                <a:spcPts val="5100"/>
              </a:lnSpc>
            </a:pPr>
            <a:endParaRPr lang="en-US" sz="5100" dirty="0">
              <a:solidFill>
                <a:srgbClr val="FFFFF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187231" y="8124643"/>
            <a:ext cx="1794611" cy="1823977"/>
          </a:xfrm>
          <a:custGeom>
            <a:avLst/>
            <a:gdLst/>
            <a:ahLst/>
            <a:cxnLst/>
            <a:rect l="l" t="t" r="r" b="b"/>
            <a:pathLst>
              <a:path w="1794611" h="1823977">
                <a:moveTo>
                  <a:pt x="0" y="0"/>
                </a:moveTo>
                <a:lnTo>
                  <a:pt x="1794610" y="0"/>
                </a:lnTo>
                <a:lnTo>
                  <a:pt x="1794610" y="1823977"/>
                </a:lnTo>
                <a:lnTo>
                  <a:pt x="0" y="18239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1858772" y="7662975"/>
            <a:ext cx="3530426" cy="2747313"/>
          </a:xfrm>
          <a:custGeom>
            <a:avLst/>
            <a:gdLst/>
            <a:ahLst/>
            <a:cxnLst/>
            <a:rect l="l" t="t" r="r" b="b"/>
            <a:pathLst>
              <a:path w="3530426" h="2747313">
                <a:moveTo>
                  <a:pt x="0" y="0"/>
                </a:moveTo>
                <a:lnTo>
                  <a:pt x="3530426" y="0"/>
                </a:lnTo>
                <a:lnTo>
                  <a:pt x="3530426" y="2747314"/>
                </a:lnTo>
                <a:lnTo>
                  <a:pt x="0" y="274731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 name="Freeform 4"/>
          <p:cNvSpPr/>
          <p:nvPr/>
        </p:nvSpPr>
        <p:spPr>
          <a:xfrm flipH="1">
            <a:off x="12887280" y="1387965"/>
            <a:ext cx="6267851" cy="1823375"/>
          </a:xfrm>
          <a:custGeom>
            <a:avLst/>
            <a:gdLst/>
            <a:ahLst/>
            <a:cxnLst/>
            <a:rect l="l" t="t" r="r" b="b"/>
            <a:pathLst>
              <a:path w="6267851" h="1823375">
                <a:moveTo>
                  <a:pt x="6267851" y="0"/>
                </a:moveTo>
                <a:lnTo>
                  <a:pt x="0" y="0"/>
                </a:lnTo>
                <a:lnTo>
                  <a:pt x="0" y="1823374"/>
                </a:lnTo>
                <a:lnTo>
                  <a:pt x="6267851" y="1823374"/>
                </a:lnTo>
                <a:lnTo>
                  <a:pt x="6267851"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 name="Freeform 5"/>
          <p:cNvSpPr/>
          <p:nvPr/>
        </p:nvSpPr>
        <p:spPr>
          <a:xfrm>
            <a:off x="15673664" y="1574897"/>
            <a:ext cx="2821744" cy="4990223"/>
          </a:xfrm>
          <a:custGeom>
            <a:avLst/>
            <a:gdLst/>
            <a:ahLst/>
            <a:cxnLst/>
            <a:rect l="l" t="t" r="r" b="b"/>
            <a:pathLst>
              <a:path w="2821744" h="4990223">
                <a:moveTo>
                  <a:pt x="0" y="0"/>
                </a:moveTo>
                <a:lnTo>
                  <a:pt x="2821744" y="0"/>
                </a:lnTo>
                <a:lnTo>
                  <a:pt x="2821744" y="4990223"/>
                </a:lnTo>
                <a:lnTo>
                  <a:pt x="0" y="499022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6" name="Freeform 6"/>
          <p:cNvSpPr/>
          <p:nvPr/>
        </p:nvSpPr>
        <p:spPr>
          <a:xfrm flipH="1">
            <a:off x="16021205" y="5395982"/>
            <a:ext cx="3363158" cy="2617148"/>
          </a:xfrm>
          <a:custGeom>
            <a:avLst/>
            <a:gdLst/>
            <a:ahLst/>
            <a:cxnLst/>
            <a:rect l="l" t="t" r="r" b="b"/>
            <a:pathLst>
              <a:path w="3363158" h="2617148">
                <a:moveTo>
                  <a:pt x="3363158" y="0"/>
                </a:moveTo>
                <a:lnTo>
                  <a:pt x="0" y="0"/>
                </a:lnTo>
                <a:lnTo>
                  <a:pt x="0" y="2617149"/>
                </a:lnTo>
                <a:lnTo>
                  <a:pt x="3363158" y="2617149"/>
                </a:lnTo>
                <a:lnTo>
                  <a:pt x="3363158"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7" name="Freeform 7"/>
          <p:cNvSpPr/>
          <p:nvPr/>
        </p:nvSpPr>
        <p:spPr>
          <a:xfrm>
            <a:off x="15518200" y="6704556"/>
            <a:ext cx="2184585" cy="4114800"/>
          </a:xfrm>
          <a:custGeom>
            <a:avLst/>
            <a:gdLst/>
            <a:ahLst/>
            <a:cxnLst/>
            <a:rect l="l" t="t" r="r" b="b"/>
            <a:pathLst>
              <a:path w="2184585" h="4114800">
                <a:moveTo>
                  <a:pt x="0" y="0"/>
                </a:moveTo>
                <a:lnTo>
                  <a:pt x="2184584" y="0"/>
                </a:lnTo>
                <a:lnTo>
                  <a:pt x="2184584"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8" name="Freeform 8"/>
          <p:cNvSpPr/>
          <p:nvPr/>
        </p:nvSpPr>
        <p:spPr>
          <a:xfrm>
            <a:off x="10708039" y="1994159"/>
            <a:ext cx="7579961" cy="7042473"/>
          </a:xfrm>
          <a:custGeom>
            <a:avLst/>
            <a:gdLst/>
            <a:ahLst/>
            <a:cxnLst/>
            <a:rect l="l" t="t" r="r" b="b"/>
            <a:pathLst>
              <a:path w="7579961" h="7042473">
                <a:moveTo>
                  <a:pt x="0" y="0"/>
                </a:moveTo>
                <a:lnTo>
                  <a:pt x="7579961" y="0"/>
                </a:lnTo>
                <a:lnTo>
                  <a:pt x="7579961" y="7042473"/>
                </a:lnTo>
                <a:lnTo>
                  <a:pt x="0" y="704247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9" name="Freeform 9"/>
          <p:cNvSpPr/>
          <p:nvPr/>
        </p:nvSpPr>
        <p:spPr>
          <a:xfrm>
            <a:off x="1028700" y="4070009"/>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0" name="Freeform 10"/>
          <p:cNvSpPr/>
          <p:nvPr/>
        </p:nvSpPr>
        <p:spPr>
          <a:xfrm>
            <a:off x="7176013" y="138796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9505963" y="3898839"/>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2" name="Freeform 12"/>
          <p:cNvSpPr/>
          <p:nvPr/>
        </p:nvSpPr>
        <p:spPr>
          <a:xfrm>
            <a:off x="12562061" y="1502770"/>
            <a:ext cx="1061924" cy="1079301"/>
          </a:xfrm>
          <a:custGeom>
            <a:avLst/>
            <a:gdLst/>
            <a:ahLst/>
            <a:cxnLst/>
            <a:rect l="l" t="t" r="r" b="b"/>
            <a:pathLst>
              <a:path w="1061924" h="1079301">
                <a:moveTo>
                  <a:pt x="0" y="0"/>
                </a:moveTo>
                <a:lnTo>
                  <a:pt x="1061924" y="0"/>
                </a:lnTo>
                <a:lnTo>
                  <a:pt x="1061924" y="1079302"/>
                </a:lnTo>
                <a:lnTo>
                  <a:pt x="0" y="10793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745339" y="1373433"/>
            <a:ext cx="10899011" cy="780415"/>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Opening - The Pitch </a:t>
            </a:r>
          </a:p>
        </p:txBody>
      </p:sp>
      <p:sp>
        <p:nvSpPr>
          <p:cNvPr id="14" name="TextBox 14"/>
          <p:cNvSpPr txBox="1"/>
          <p:nvPr/>
        </p:nvSpPr>
        <p:spPr>
          <a:xfrm>
            <a:off x="486452" y="2762670"/>
            <a:ext cx="10088237" cy="6027035"/>
          </a:xfrm>
          <a:prstGeom prst="rect">
            <a:avLst/>
          </a:prstGeom>
        </p:spPr>
        <p:txBody>
          <a:bodyPr lIns="0" tIns="0" rIns="0" bIns="0" rtlCol="0" anchor="t">
            <a:spAutoFit/>
          </a:bodyPr>
          <a:lstStyle/>
          <a:p>
            <a:pPr marL="712468" lvl="1" indent="-356234">
              <a:lnSpc>
                <a:spcPts val="4289"/>
              </a:lnSpc>
              <a:buFont typeface="Arial"/>
              <a:buChar char="•"/>
            </a:pPr>
            <a:r>
              <a:rPr lang="en-US" sz="3299" dirty="0">
                <a:solidFill>
                  <a:srgbClr val="38B349"/>
                </a:solidFill>
                <a:latin typeface="Times New Roman"/>
                <a:ea typeface="Times New Roman"/>
                <a:cs typeface="Times New Roman"/>
                <a:sym typeface="Times New Roman"/>
              </a:rPr>
              <a:t>Lagos produces more than 13,000-15,000 </a:t>
            </a:r>
            <a:r>
              <a:rPr lang="en-US" sz="3299" dirty="0" err="1">
                <a:solidFill>
                  <a:srgbClr val="38B349"/>
                </a:solidFill>
                <a:latin typeface="Times New Roman"/>
                <a:ea typeface="Times New Roman"/>
                <a:cs typeface="Times New Roman"/>
                <a:sym typeface="Times New Roman"/>
              </a:rPr>
              <a:t>tonnes</a:t>
            </a:r>
            <a:r>
              <a:rPr lang="en-US" sz="3299" dirty="0">
                <a:solidFill>
                  <a:srgbClr val="38B349"/>
                </a:solidFill>
                <a:latin typeface="Times New Roman"/>
                <a:ea typeface="Times New Roman"/>
                <a:cs typeface="Times New Roman"/>
                <a:sym typeface="Times New Roman"/>
              </a:rPr>
              <a:t> of waste per day, but there is a lack of structured and </a:t>
            </a:r>
            <a:r>
              <a:rPr lang="en-US" sz="3299" dirty="0" err="1">
                <a:solidFill>
                  <a:srgbClr val="38B349"/>
                </a:solidFill>
                <a:latin typeface="Times New Roman"/>
                <a:ea typeface="Times New Roman"/>
                <a:cs typeface="Times New Roman"/>
                <a:sym typeface="Times New Roman"/>
              </a:rPr>
              <a:t>incentivised</a:t>
            </a:r>
            <a:r>
              <a:rPr lang="en-US" sz="3299" dirty="0">
                <a:solidFill>
                  <a:srgbClr val="38B349"/>
                </a:solidFill>
                <a:latin typeface="Times New Roman"/>
                <a:ea typeface="Times New Roman"/>
                <a:cs typeface="Times New Roman"/>
                <a:sym typeface="Times New Roman"/>
              </a:rPr>
              <a:t> recycling.</a:t>
            </a:r>
          </a:p>
          <a:p>
            <a:pPr marL="712468" lvl="1" indent="-356234">
              <a:lnSpc>
                <a:spcPts val="4289"/>
              </a:lnSpc>
              <a:buFont typeface="Arial"/>
              <a:buChar char="•"/>
            </a:pPr>
            <a:r>
              <a:rPr lang="en-US" sz="3299" dirty="0">
                <a:solidFill>
                  <a:srgbClr val="38B349"/>
                </a:solidFill>
                <a:latin typeface="Times New Roman"/>
                <a:ea typeface="Times New Roman"/>
                <a:cs typeface="Times New Roman"/>
                <a:sym typeface="Times New Roman"/>
              </a:rPr>
              <a:t>A digital platform that provides a schedule of waste collection and rewards for recycling.</a:t>
            </a:r>
          </a:p>
          <a:p>
            <a:pPr marL="712468" lvl="1" indent="-356234">
              <a:lnSpc>
                <a:spcPts val="4289"/>
              </a:lnSpc>
              <a:buFont typeface="Arial"/>
              <a:buChar char="•"/>
            </a:pPr>
            <a:r>
              <a:rPr lang="en-US" sz="3299" dirty="0">
                <a:solidFill>
                  <a:srgbClr val="38B349"/>
                </a:solidFill>
                <a:latin typeface="Times New Roman"/>
                <a:ea typeface="Times New Roman"/>
                <a:cs typeface="Times New Roman"/>
                <a:sym typeface="Times New Roman"/>
              </a:rPr>
              <a:t>Target middle-income households and SMEs in Ikeja, </a:t>
            </a:r>
            <a:r>
              <a:rPr lang="en-US" sz="3299" dirty="0" err="1">
                <a:solidFill>
                  <a:srgbClr val="38B349"/>
                </a:solidFill>
                <a:latin typeface="Times New Roman"/>
                <a:ea typeface="Times New Roman"/>
                <a:cs typeface="Times New Roman"/>
                <a:sym typeface="Times New Roman"/>
              </a:rPr>
              <a:t>Yaba</a:t>
            </a:r>
            <a:r>
              <a:rPr lang="en-US" sz="3299" dirty="0">
                <a:solidFill>
                  <a:srgbClr val="38B349"/>
                </a:solidFill>
                <a:latin typeface="Times New Roman"/>
                <a:ea typeface="Times New Roman"/>
                <a:cs typeface="Times New Roman"/>
                <a:sym typeface="Times New Roman"/>
              </a:rPr>
              <a:t>, Surulere and Lekki.</a:t>
            </a:r>
          </a:p>
          <a:p>
            <a:pPr marL="712468" lvl="1" indent="-356234">
              <a:lnSpc>
                <a:spcPts val="4289"/>
              </a:lnSpc>
              <a:buFont typeface="Arial"/>
              <a:buChar char="•"/>
            </a:pPr>
            <a:r>
              <a:rPr lang="en-US" sz="3299" dirty="0">
                <a:solidFill>
                  <a:srgbClr val="38B349"/>
                </a:solidFill>
                <a:latin typeface="Times New Roman"/>
                <a:ea typeface="Times New Roman"/>
                <a:cs typeface="Times New Roman"/>
                <a:sym typeface="Times New Roman"/>
              </a:rPr>
              <a:t>Revenue is generated from subscriptions, sales of recyclable products and sustainability partnerships.</a:t>
            </a:r>
          </a:p>
          <a:p>
            <a:pPr marL="712468" lvl="1" indent="-356234">
              <a:lnSpc>
                <a:spcPts val="4289"/>
              </a:lnSpc>
              <a:buFont typeface="Arial"/>
              <a:buChar char="•"/>
            </a:pPr>
            <a:r>
              <a:rPr lang="en-US" sz="3299" dirty="0" err="1">
                <a:solidFill>
                  <a:srgbClr val="38B349"/>
                </a:solidFill>
                <a:latin typeface="Times New Roman"/>
                <a:ea typeface="Times New Roman"/>
                <a:cs typeface="Times New Roman"/>
                <a:sym typeface="Times New Roman"/>
              </a:rPr>
              <a:t>Formalised</a:t>
            </a:r>
            <a:r>
              <a:rPr lang="en-US" sz="3299" dirty="0">
                <a:solidFill>
                  <a:srgbClr val="38B349"/>
                </a:solidFill>
                <a:latin typeface="Times New Roman"/>
                <a:ea typeface="Times New Roman"/>
                <a:cs typeface="Times New Roman"/>
                <a:sym typeface="Times New Roman"/>
              </a:rPr>
              <a:t> collection, real-time tracking and instant rewards, with phase release from months one to four.</a:t>
            </a:r>
          </a:p>
        </p:txBody>
      </p:sp>
      <p:grpSp>
        <p:nvGrpSpPr>
          <p:cNvPr id="15" name="Group 15"/>
          <p:cNvGrpSpPr/>
          <p:nvPr/>
        </p:nvGrpSpPr>
        <p:grpSpPr>
          <a:xfrm>
            <a:off x="745339" y="310344"/>
            <a:ext cx="4670373" cy="958315"/>
            <a:chOff x="0" y="0"/>
            <a:chExt cx="6227165" cy="1277753"/>
          </a:xfrm>
        </p:grpSpPr>
        <p:sp>
          <p:nvSpPr>
            <p:cNvPr id="16" name="TextBox 16"/>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17" name="Freeform 17"/>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19"/>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5050550" y="8070856"/>
            <a:ext cx="5253927" cy="1184522"/>
          </a:xfrm>
          <a:custGeom>
            <a:avLst/>
            <a:gdLst/>
            <a:ahLst/>
            <a:cxnLst/>
            <a:rect l="l" t="t" r="r" b="b"/>
            <a:pathLst>
              <a:path w="5253927" h="1184522">
                <a:moveTo>
                  <a:pt x="0" y="0"/>
                </a:moveTo>
                <a:lnTo>
                  <a:pt x="5253926" y="0"/>
                </a:lnTo>
                <a:lnTo>
                  <a:pt x="5253926" y="1184522"/>
                </a:lnTo>
                <a:lnTo>
                  <a:pt x="0" y="11845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2104790" y="8390588"/>
            <a:ext cx="2395853" cy="272528"/>
          </a:xfrm>
          <a:custGeom>
            <a:avLst/>
            <a:gdLst/>
            <a:ahLst/>
            <a:cxnLst/>
            <a:rect l="l" t="t" r="r" b="b"/>
            <a:pathLst>
              <a:path w="2395853" h="272528">
                <a:moveTo>
                  <a:pt x="0" y="0"/>
                </a:moveTo>
                <a:lnTo>
                  <a:pt x="2395853" y="0"/>
                </a:lnTo>
                <a:lnTo>
                  <a:pt x="2395853" y="272529"/>
                </a:lnTo>
                <a:lnTo>
                  <a:pt x="0" y="272529"/>
                </a:lnTo>
                <a:lnTo>
                  <a:pt x="0" y="0"/>
                </a:lnTo>
                <a:close/>
              </a:path>
            </a:pathLst>
          </a:custGeom>
          <a:blipFill>
            <a:blip r:embed="rId5"/>
            <a:stretch>
              <a:fillRect/>
            </a:stretch>
          </a:blipFill>
        </p:spPr>
      </p:sp>
      <p:sp>
        <p:nvSpPr>
          <p:cNvPr id="4" name="Freeform 4"/>
          <p:cNvSpPr/>
          <p:nvPr/>
        </p:nvSpPr>
        <p:spPr>
          <a:xfrm>
            <a:off x="6374446" y="711142"/>
            <a:ext cx="5539108" cy="1611377"/>
          </a:xfrm>
          <a:custGeom>
            <a:avLst/>
            <a:gdLst/>
            <a:ahLst/>
            <a:cxnLst/>
            <a:rect l="l" t="t" r="r" b="b"/>
            <a:pathLst>
              <a:path w="5539108" h="1611377">
                <a:moveTo>
                  <a:pt x="0" y="0"/>
                </a:moveTo>
                <a:lnTo>
                  <a:pt x="5539108" y="0"/>
                </a:lnTo>
                <a:lnTo>
                  <a:pt x="5539108" y="1611377"/>
                </a:lnTo>
                <a:lnTo>
                  <a:pt x="0" y="16113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20200" y="5840606"/>
            <a:ext cx="5539108" cy="1611377"/>
          </a:xfrm>
          <a:custGeom>
            <a:avLst/>
            <a:gdLst/>
            <a:ahLst/>
            <a:cxnLst/>
            <a:rect l="l" t="t" r="r" b="b"/>
            <a:pathLst>
              <a:path w="5539108" h="1611377">
                <a:moveTo>
                  <a:pt x="0" y="0"/>
                </a:moveTo>
                <a:lnTo>
                  <a:pt x="5539108" y="0"/>
                </a:lnTo>
                <a:lnTo>
                  <a:pt x="5539108" y="1611377"/>
                </a:lnTo>
                <a:lnTo>
                  <a:pt x="0" y="16113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5160482" y="1130568"/>
            <a:ext cx="1377232" cy="1399768"/>
          </a:xfrm>
          <a:custGeom>
            <a:avLst/>
            <a:gdLst/>
            <a:ahLst/>
            <a:cxnLst/>
            <a:rect l="l" t="t" r="r" b="b"/>
            <a:pathLst>
              <a:path w="1377232" h="1399768">
                <a:moveTo>
                  <a:pt x="0" y="0"/>
                </a:moveTo>
                <a:lnTo>
                  <a:pt x="1377232" y="0"/>
                </a:lnTo>
                <a:lnTo>
                  <a:pt x="1377232" y="1399768"/>
                </a:lnTo>
                <a:lnTo>
                  <a:pt x="0" y="139976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1058103" y="1338523"/>
            <a:ext cx="6464663" cy="780415"/>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Customer Jobs</a:t>
            </a:r>
          </a:p>
        </p:txBody>
      </p:sp>
      <p:grpSp>
        <p:nvGrpSpPr>
          <p:cNvPr id="8" name="Group 8"/>
          <p:cNvGrpSpPr/>
          <p:nvPr/>
        </p:nvGrpSpPr>
        <p:grpSpPr>
          <a:xfrm>
            <a:off x="-4547594" y="8271806"/>
            <a:ext cx="12137839" cy="4030389"/>
            <a:chOff x="0" y="0"/>
            <a:chExt cx="4240198" cy="1407965"/>
          </a:xfrm>
        </p:grpSpPr>
        <p:sp>
          <p:nvSpPr>
            <p:cNvPr id="9" name="Freeform 9"/>
            <p:cNvSpPr/>
            <p:nvPr/>
          </p:nvSpPr>
          <p:spPr>
            <a:xfrm>
              <a:off x="0" y="0"/>
              <a:ext cx="4240198" cy="1407965"/>
            </a:xfrm>
            <a:custGeom>
              <a:avLst/>
              <a:gdLst/>
              <a:ahLst/>
              <a:cxnLst/>
              <a:rect l="l" t="t" r="r" b="b"/>
              <a:pathLst>
                <a:path w="4240198" h="1407965">
                  <a:moveTo>
                    <a:pt x="2120099" y="0"/>
                  </a:moveTo>
                  <a:cubicBezTo>
                    <a:pt x="949201" y="0"/>
                    <a:pt x="0" y="315184"/>
                    <a:pt x="0" y="703982"/>
                  </a:cubicBezTo>
                  <a:cubicBezTo>
                    <a:pt x="0" y="1092781"/>
                    <a:pt x="949201" y="1407965"/>
                    <a:pt x="2120099" y="1407965"/>
                  </a:cubicBezTo>
                  <a:cubicBezTo>
                    <a:pt x="3290998" y="1407965"/>
                    <a:pt x="4240198" y="1092781"/>
                    <a:pt x="4240198" y="703982"/>
                  </a:cubicBezTo>
                  <a:cubicBezTo>
                    <a:pt x="4240198" y="315184"/>
                    <a:pt x="3290998" y="0"/>
                    <a:pt x="2120099" y="0"/>
                  </a:cubicBezTo>
                  <a:close/>
                </a:path>
              </a:pathLst>
            </a:custGeom>
            <a:gradFill rotWithShape="1">
              <a:gsLst>
                <a:gs pos="0">
                  <a:srgbClr val="98C850">
                    <a:alpha val="100000"/>
                  </a:srgbClr>
                </a:gs>
                <a:gs pos="100000">
                  <a:srgbClr val="84B83D">
                    <a:alpha val="100000"/>
                  </a:srgbClr>
                </a:gs>
              </a:gsLst>
              <a:lin ang="5400000"/>
            </a:gradFill>
          </p:spPr>
        </p:sp>
        <p:sp>
          <p:nvSpPr>
            <p:cNvPr id="10" name="TextBox 10"/>
            <p:cNvSpPr txBox="1"/>
            <p:nvPr/>
          </p:nvSpPr>
          <p:spPr>
            <a:xfrm>
              <a:off x="397519" y="93897"/>
              <a:ext cx="3445161" cy="118207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64203" y="9377492"/>
            <a:ext cx="21919348" cy="1449455"/>
            <a:chOff x="0" y="0"/>
            <a:chExt cx="5772997" cy="381749"/>
          </a:xfrm>
        </p:grpSpPr>
        <p:sp>
          <p:nvSpPr>
            <p:cNvPr id="12" name="Freeform 12"/>
            <p:cNvSpPr/>
            <p:nvPr/>
          </p:nvSpPr>
          <p:spPr>
            <a:xfrm>
              <a:off x="0" y="0"/>
              <a:ext cx="5772997" cy="381749"/>
            </a:xfrm>
            <a:custGeom>
              <a:avLst/>
              <a:gdLst/>
              <a:ahLst/>
              <a:cxnLst/>
              <a:rect l="l" t="t" r="r" b="b"/>
              <a:pathLst>
                <a:path w="5772997" h="381749">
                  <a:moveTo>
                    <a:pt x="0" y="0"/>
                  </a:moveTo>
                  <a:lnTo>
                    <a:pt x="5772997" y="0"/>
                  </a:lnTo>
                  <a:lnTo>
                    <a:pt x="5772997" y="381749"/>
                  </a:lnTo>
                  <a:lnTo>
                    <a:pt x="0" y="381749"/>
                  </a:lnTo>
                  <a:close/>
                </a:path>
              </a:pathLst>
            </a:custGeom>
            <a:gradFill rotWithShape="1">
              <a:gsLst>
                <a:gs pos="0">
                  <a:srgbClr val="23AC3A">
                    <a:alpha val="100000"/>
                  </a:srgbClr>
                </a:gs>
                <a:gs pos="100000">
                  <a:srgbClr val="81CC7D">
                    <a:alpha val="100000"/>
                  </a:srgbClr>
                </a:gs>
              </a:gsLst>
              <a:lin ang="5400000"/>
            </a:gradFill>
          </p:spPr>
        </p:sp>
        <p:sp>
          <p:nvSpPr>
            <p:cNvPr id="13" name="TextBox 13"/>
            <p:cNvSpPr txBox="1"/>
            <p:nvPr/>
          </p:nvSpPr>
          <p:spPr>
            <a:xfrm>
              <a:off x="0" y="-38100"/>
              <a:ext cx="5772997" cy="419849"/>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0" y="6031741"/>
            <a:ext cx="2821744" cy="4990223"/>
          </a:xfrm>
          <a:custGeom>
            <a:avLst/>
            <a:gdLst/>
            <a:ahLst/>
            <a:cxnLst/>
            <a:rect l="l" t="t" r="r" b="b"/>
            <a:pathLst>
              <a:path w="2821744" h="4990223">
                <a:moveTo>
                  <a:pt x="0" y="0"/>
                </a:moveTo>
                <a:lnTo>
                  <a:pt x="2821744" y="0"/>
                </a:lnTo>
                <a:lnTo>
                  <a:pt x="2821744" y="4990223"/>
                </a:lnTo>
                <a:lnTo>
                  <a:pt x="0" y="49902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Freeform 15"/>
          <p:cNvSpPr/>
          <p:nvPr/>
        </p:nvSpPr>
        <p:spPr>
          <a:xfrm flipH="1">
            <a:off x="15509434" y="8271806"/>
            <a:ext cx="1749866" cy="1361714"/>
          </a:xfrm>
          <a:custGeom>
            <a:avLst/>
            <a:gdLst/>
            <a:ahLst/>
            <a:cxnLst/>
            <a:rect l="l" t="t" r="r" b="b"/>
            <a:pathLst>
              <a:path w="1749866" h="1361714">
                <a:moveTo>
                  <a:pt x="1749866" y="0"/>
                </a:moveTo>
                <a:lnTo>
                  <a:pt x="0" y="0"/>
                </a:lnTo>
                <a:lnTo>
                  <a:pt x="0" y="1361713"/>
                </a:lnTo>
                <a:lnTo>
                  <a:pt x="1749866" y="1361713"/>
                </a:lnTo>
                <a:lnTo>
                  <a:pt x="1749866"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Freeform 16"/>
          <p:cNvSpPr/>
          <p:nvPr/>
        </p:nvSpPr>
        <p:spPr>
          <a:xfrm flipH="1">
            <a:off x="13533451" y="6255938"/>
            <a:ext cx="5272671" cy="6759835"/>
          </a:xfrm>
          <a:custGeom>
            <a:avLst/>
            <a:gdLst/>
            <a:ahLst/>
            <a:cxnLst/>
            <a:rect l="l" t="t" r="r" b="b"/>
            <a:pathLst>
              <a:path w="5272671" h="6759835">
                <a:moveTo>
                  <a:pt x="5272672" y="0"/>
                </a:moveTo>
                <a:lnTo>
                  <a:pt x="0" y="0"/>
                </a:lnTo>
                <a:lnTo>
                  <a:pt x="0" y="6759835"/>
                </a:lnTo>
                <a:lnTo>
                  <a:pt x="5272672" y="6759835"/>
                </a:lnTo>
                <a:lnTo>
                  <a:pt x="5272672"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7" name="Freeform 17"/>
          <p:cNvSpPr/>
          <p:nvPr/>
        </p:nvSpPr>
        <p:spPr>
          <a:xfrm>
            <a:off x="7493926" y="8380889"/>
            <a:ext cx="1438236" cy="1119209"/>
          </a:xfrm>
          <a:custGeom>
            <a:avLst/>
            <a:gdLst/>
            <a:ahLst/>
            <a:cxnLst/>
            <a:rect l="l" t="t" r="r" b="b"/>
            <a:pathLst>
              <a:path w="1438236" h="1119209">
                <a:moveTo>
                  <a:pt x="0" y="0"/>
                </a:moveTo>
                <a:lnTo>
                  <a:pt x="1438236" y="0"/>
                </a:lnTo>
                <a:lnTo>
                  <a:pt x="1438236" y="1119209"/>
                </a:lnTo>
                <a:lnTo>
                  <a:pt x="0" y="111920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8" name="Freeform 18"/>
          <p:cNvSpPr/>
          <p:nvPr/>
        </p:nvSpPr>
        <p:spPr>
          <a:xfrm>
            <a:off x="7176013" y="692092"/>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9" name="Freeform 19"/>
          <p:cNvSpPr/>
          <p:nvPr/>
        </p:nvSpPr>
        <p:spPr>
          <a:xfrm>
            <a:off x="17410898" y="3158314"/>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0" name="Freeform 20"/>
          <p:cNvSpPr/>
          <p:nvPr/>
        </p:nvSpPr>
        <p:spPr>
          <a:xfrm>
            <a:off x="164233" y="6255938"/>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1" name="Freeform 21"/>
          <p:cNvSpPr/>
          <p:nvPr/>
        </p:nvSpPr>
        <p:spPr>
          <a:xfrm>
            <a:off x="947577" y="2414275"/>
            <a:ext cx="16026729" cy="6871460"/>
          </a:xfrm>
          <a:custGeom>
            <a:avLst/>
            <a:gdLst/>
            <a:ahLst/>
            <a:cxnLst/>
            <a:rect l="l" t="t" r="r" b="b"/>
            <a:pathLst>
              <a:path w="16026729" h="6871460">
                <a:moveTo>
                  <a:pt x="0" y="0"/>
                </a:moveTo>
                <a:lnTo>
                  <a:pt x="16026729" y="0"/>
                </a:lnTo>
                <a:lnTo>
                  <a:pt x="16026729" y="6871460"/>
                </a:lnTo>
                <a:lnTo>
                  <a:pt x="0" y="6871460"/>
                </a:lnTo>
                <a:lnTo>
                  <a:pt x="0" y="0"/>
                </a:lnTo>
                <a:close/>
              </a:path>
            </a:pathLst>
          </a:custGeom>
          <a:blipFill>
            <a:blip r:embed="rId20"/>
            <a:stretch>
              <a:fillRect/>
            </a:stretch>
          </a:blipFill>
        </p:spPr>
      </p:sp>
      <p:grpSp>
        <p:nvGrpSpPr>
          <p:cNvPr id="22" name="Group 22"/>
          <p:cNvGrpSpPr/>
          <p:nvPr/>
        </p:nvGrpSpPr>
        <p:grpSpPr>
          <a:xfrm>
            <a:off x="745339" y="310344"/>
            <a:ext cx="4670373" cy="958315"/>
            <a:chOff x="0" y="0"/>
            <a:chExt cx="6227165" cy="1277753"/>
          </a:xfrm>
        </p:grpSpPr>
        <p:sp>
          <p:nvSpPr>
            <p:cNvPr id="23" name="TextBox 23"/>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24" name="Freeform 24"/>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21"/>
              <a:stretch>
                <a:fillRect/>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449114" y="4106307"/>
            <a:ext cx="1974406" cy="1536447"/>
          </a:xfrm>
          <a:custGeom>
            <a:avLst/>
            <a:gdLst/>
            <a:ahLst/>
            <a:cxnLst/>
            <a:rect l="l" t="t" r="r" b="b"/>
            <a:pathLst>
              <a:path w="1974406" h="1536447">
                <a:moveTo>
                  <a:pt x="0" y="0"/>
                </a:moveTo>
                <a:lnTo>
                  <a:pt x="1974406" y="0"/>
                </a:lnTo>
                <a:lnTo>
                  <a:pt x="1974406" y="1536447"/>
                </a:lnTo>
                <a:lnTo>
                  <a:pt x="0" y="15364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8971619" y="4996569"/>
            <a:ext cx="12137839" cy="4030389"/>
            <a:chOff x="0" y="0"/>
            <a:chExt cx="4240198" cy="1407965"/>
          </a:xfrm>
        </p:grpSpPr>
        <p:sp>
          <p:nvSpPr>
            <p:cNvPr id="4" name="Freeform 4"/>
            <p:cNvSpPr/>
            <p:nvPr/>
          </p:nvSpPr>
          <p:spPr>
            <a:xfrm>
              <a:off x="0" y="0"/>
              <a:ext cx="4240198" cy="1407965"/>
            </a:xfrm>
            <a:custGeom>
              <a:avLst/>
              <a:gdLst/>
              <a:ahLst/>
              <a:cxnLst/>
              <a:rect l="l" t="t" r="r" b="b"/>
              <a:pathLst>
                <a:path w="4240198" h="1407965">
                  <a:moveTo>
                    <a:pt x="2120099" y="0"/>
                  </a:moveTo>
                  <a:cubicBezTo>
                    <a:pt x="949201" y="0"/>
                    <a:pt x="0" y="315184"/>
                    <a:pt x="0" y="703982"/>
                  </a:cubicBezTo>
                  <a:cubicBezTo>
                    <a:pt x="0" y="1092781"/>
                    <a:pt x="949201" y="1407965"/>
                    <a:pt x="2120099" y="1407965"/>
                  </a:cubicBezTo>
                  <a:cubicBezTo>
                    <a:pt x="3290998" y="1407965"/>
                    <a:pt x="4240198" y="1092781"/>
                    <a:pt x="4240198" y="703982"/>
                  </a:cubicBezTo>
                  <a:cubicBezTo>
                    <a:pt x="4240198" y="315184"/>
                    <a:pt x="3290998" y="0"/>
                    <a:pt x="2120099" y="0"/>
                  </a:cubicBezTo>
                  <a:close/>
                </a:path>
              </a:pathLst>
            </a:custGeom>
            <a:gradFill rotWithShape="1">
              <a:gsLst>
                <a:gs pos="0">
                  <a:srgbClr val="98C850">
                    <a:alpha val="100000"/>
                  </a:srgbClr>
                </a:gs>
                <a:gs pos="100000">
                  <a:srgbClr val="84B83D">
                    <a:alpha val="100000"/>
                  </a:srgbClr>
                </a:gs>
              </a:gsLst>
              <a:lin ang="5400000"/>
            </a:gradFill>
          </p:spPr>
        </p:sp>
        <p:sp>
          <p:nvSpPr>
            <p:cNvPr id="5" name="TextBox 5"/>
            <p:cNvSpPr txBox="1"/>
            <p:nvPr/>
          </p:nvSpPr>
          <p:spPr>
            <a:xfrm>
              <a:off x="397519" y="93897"/>
              <a:ext cx="3445161" cy="1182071"/>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10560" y="8320957"/>
            <a:ext cx="21919348" cy="4277842"/>
            <a:chOff x="0" y="0"/>
            <a:chExt cx="5772997" cy="1126674"/>
          </a:xfrm>
        </p:grpSpPr>
        <p:sp>
          <p:nvSpPr>
            <p:cNvPr id="7" name="Freeform 7"/>
            <p:cNvSpPr/>
            <p:nvPr/>
          </p:nvSpPr>
          <p:spPr>
            <a:xfrm>
              <a:off x="0" y="0"/>
              <a:ext cx="5772997" cy="1126674"/>
            </a:xfrm>
            <a:custGeom>
              <a:avLst/>
              <a:gdLst/>
              <a:ahLst/>
              <a:cxnLst/>
              <a:rect l="l" t="t" r="r" b="b"/>
              <a:pathLst>
                <a:path w="5772997" h="1126674">
                  <a:moveTo>
                    <a:pt x="0" y="0"/>
                  </a:moveTo>
                  <a:lnTo>
                    <a:pt x="5772997" y="0"/>
                  </a:lnTo>
                  <a:lnTo>
                    <a:pt x="5772997" y="1126674"/>
                  </a:lnTo>
                  <a:lnTo>
                    <a:pt x="0" y="1126674"/>
                  </a:lnTo>
                  <a:close/>
                </a:path>
              </a:pathLst>
            </a:custGeom>
            <a:gradFill rotWithShape="1">
              <a:gsLst>
                <a:gs pos="0">
                  <a:srgbClr val="DDD91D">
                    <a:alpha val="100000"/>
                  </a:srgbClr>
                </a:gs>
                <a:gs pos="100000">
                  <a:srgbClr val="92BF2C">
                    <a:alpha val="100000"/>
                  </a:srgbClr>
                </a:gs>
              </a:gsLst>
              <a:lin ang="5400000"/>
            </a:gradFill>
          </p:spPr>
        </p:sp>
        <p:sp>
          <p:nvSpPr>
            <p:cNvPr id="8" name="TextBox 8"/>
            <p:cNvSpPr txBox="1"/>
            <p:nvPr/>
          </p:nvSpPr>
          <p:spPr>
            <a:xfrm>
              <a:off x="0" y="-38100"/>
              <a:ext cx="5772997" cy="1164774"/>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1889238" y="6564404"/>
            <a:ext cx="16099503" cy="9907199"/>
            <a:chOff x="0" y="0"/>
            <a:chExt cx="4240198" cy="2609303"/>
          </a:xfrm>
        </p:grpSpPr>
        <p:sp>
          <p:nvSpPr>
            <p:cNvPr id="10" name="Freeform 10"/>
            <p:cNvSpPr/>
            <p:nvPr/>
          </p:nvSpPr>
          <p:spPr>
            <a:xfrm>
              <a:off x="0" y="0"/>
              <a:ext cx="4240198" cy="2609304"/>
            </a:xfrm>
            <a:custGeom>
              <a:avLst/>
              <a:gdLst/>
              <a:ahLst/>
              <a:cxnLst/>
              <a:rect l="l" t="t" r="r" b="b"/>
              <a:pathLst>
                <a:path w="4240198" h="2609304">
                  <a:moveTo>
                    <a:pt x="2120099" y="0"/>
                  </a:moveTo>
                  <a:cubicBezTo>
                    <a:pt x="949201" y="0"/>
                    <a:pt x="0" y="584112"/>
                    <a:pt x="0" y="1304652"/>
                  </a:cubicBezTo>
                  <a:cubicBezTo>
                    <a:pt x="0" y="2025191"/>
                    <a:pt x="949201" y="2609304"/>
                    <a:pt x="2120099" y="2609304"/>
                  </a:cubicBezTo>
                  <a:cubicBezTo>
                    <a:pt x="3290998" y="2609304"/>
                    <a:pt x="4240198" y="2025191"/>
                    <a:pt x="4240198" y="1304652"/>
                  </a:cubicBezTo>
                  <a:cubicBezTo>
                    <a:pt x="4240198" y="584112"/>
                    <a:pt x="3290998" y="0"/>
                    <a:pt x="2120099" y="0"/>
                  </a:cubicBezTo>
                  <a:close/>
                </a:path>
              </a:pathLst>
            </a:custGeom>
            <a:gradFill rotWithShape="1">
              <a:gsLst>
                <a:gs pos="0">
                  <a:srgbClr val="23AC3A">
                    <a:alpha val="100000"/>
                  </a:srgbClr>
                </a:gs>
                <a:gs pos="100000">
                  <a:srgbClr val="81CC7D">
                    <a:alpha val="100000"/>
                  </a:srgbClr>
                </a:gs>
              </a:gsLst>
              <a:lin ang="5400000"/>
            </a:gradFill>
          </p:spPr>
        </p:sp>
        <p:sp>
          <p:nvSpPr>
            <p:cNvPr id="11" name="TextBox 11"/>
            <p:cNvSpPr txBox="1"/>
            <p:nvPr/>
          </p:nvSpPr>
          <p:spPr>
            <a:xfrm>
              <a:off x="397519" y="206522"/>
              <a:ext cx="3445161" cy="2158159"/>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1653046"/>
            <a:ext cx="6464663" cy="780415"/>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Customer Pains</a:t>
            </a:r>
          </a:p>
        </p:txBody>
      </p:sp>
      <p:sp>
        <p:nvSpPr>
          <p:cNvPr id="13" name="TextBox 13"/>
          <p:cNvSpPr txBox="1"/>
          <p:nvPr/>
        </p:nvSpPr>
        <p:spPr>
          <a:xfrm>
            <a:off x="0" y="3122793"/>
            <a:ext cx="10176643" cy="4266168"/>
          </a:xfrm>
          <a:prstGeom prst="rect">
            <a:avLst/>
          </a:prstGeom>
        </p:spPr>
        <p:txBody>
          <a:bodyPr lIns="0" tIns="0" rIns="0" bIns="0" rtlCol="0" anchor="t">
            <a:spAutoFit/>
          </a:bodyPr>
          <a:lstStyle/>
          <a:p>
            <a:pPr marL="798826" lvl="1" indent="-399413">
              <a:lnSpc>
                <a:spcPts val="4809"/>
              </a:lnSpc>
              <a:buFont typeface="Arial"/>
              <a:buChar char="•"/>
            </a:pPr>
            <a:r>
              <a:rPr lang="en-US" sz="3699" dirty="0">
                <a:solidFill>
                  <a:srgbClr val="3D7366"/>
                </a:solidFill>
                <a:latin typeface="Times New Roman"/>
                <a:ea typeface="Times New Roman"/>
                <a:cs typeface="Times New Roman"/>
                <a:sym typeface="Times New Roman"/>
              </a:rPr>
              <a:t>Poor waste disposal results in odor, build-up, and potential health risks</a:t>
            </a:r>
          </a:p>
          <a:p>
            <a:pPr marL="798826" lvl="1" indent="-399413">
              <a:lnSpc>
                <a:spcPts val="4809"/>
              </a:lnSpc>
              <a:buFont typeface="Arial"/>
              <a:buChar char="•"/>
            </a:pPr>
            <a:r>
              <a:rPr lang="en-US" sz="3699" dirty="0">
                <a:solidFill>
                  <a:srgbClr val="3D7366"/>
                </a:solidFill>
                <a:latin typeface="Times New Roman"/>
                <a:ea typeface="Times New Roman"/>
                <a:cs typeface="Times New Roman"/>
                <a:sym typeface="Times New Roman"/>
              </a:rPr>
              <a:t>No accountability or tracking if collection fails</a:t>
            </a:r>
          </a:p>
          <a:p>
            <a:pPr marL="798826" lvl="1" indent="-399413">
              <a:lnSpc>
                <a:spcPts val="4809"/>
              </a:lnSpc>
              <a:buFont typeface="Arial"/>
              <a:buChar char="•"/>
            </a:pPr>
            <a:r>
              <a:rPr lang="en-US" sz="3699" dirty="0">
                <a:solidFill>
                  <a:srgbClr val="3D7366"/>
                </a:solidFill>
                <a:latin typeface="Times New Roman"/>
                <a:ea typeface="Times New Roman"/>
                <a:cs typeface="Times New Roman"/>
                <a:sym typeface="Times New Roman"/>
              </a:rPr>
              <a:t>The potential health hazards associated with long-term waste accumulation and insect damage</a:t>
            </a:r>
          </a:p>
          <a:p>
            <a:pPr marL="798826" lvl="1" indent="-399413">
              <a:lnSpc>
                <a:spcPts val="4809"/>
              </a:lnSpc>
              <a:buFont typeface="Arial"/>
              <a:buChar char="•"/>
            </a:pPr>
            <a:r>
              <a:rPr lang="en-US" sz="3699" dirty="0">
                <a:solidFill>
                  <a:srgbClr val="3D7366"/>
                </a:solidFill>
                <a:latin typeface="Times New Roman"/>
                <a:ea typeface="Times New Roman"/>
                <a:cs typeface="Times New Roman"/>
                <a:sym typeface="Times New Roman"/>
              </a:rPr>
              <a:t>No value received for separating recyclables, while paying for disposal!</a:t>
            </a:r>
          </a:p>
        </p:txBody>
      </p:sp>
      <p:sp>
        <p:nvSpPr>
          <p:cNvPr id="14" name="Freeform 14"/>
          <p:cNvSpPr/>
          <p:nvPr/>
        </p:nvSpPr>
        <p:spPr>
          <a:xfrm>
            <a:off x="-917123" y="8653409"/>
            <a:ext cx="8012563" cy="1806469"/>
          </a:xfrm>
          <a:custGeom>
            <a:avLst/>
            <a:gdLst/>
            <a:ahLst/>
            <a:cxnLst/>
            <a:rect l="l" t="t" r="r" b="b"/>
            <a:pathLst>
              <a:path w="8012563" h="1806469">
                <a:moveTo>
                  <a:pt x="0" y="0"/>
                </a:moveTo>
                <a:lnTo>
                  <a:pt x="8012562" y="0"/>
                </a:lnTo>
                <a:lnTo>
                  <a:pt x="8012562" y="1806469"/>
                </a:lnTo>
                <a:lnTo>
                  <a:pt x="0" y="18064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a:off x="12390816" y="5292015"/>
            <a:ext cx="1079383" cy="926307"/>
          </a:xfrm>
          <a:custGeom>
            <a:avLst/>
            <a:gdLst/>
            <a:ahLst/>
            <a:cxnLst/>
            <a:rect l="l" t="t" r="r" b="b"/>
            <a:pathLst>
              <a:path w="1079383" h="926307">
                <a:moveTo>
                  <a:pt x="0" y="0"/>
                </a:moveTo>
                <a:lnTo>
                  <a:pt x="1079383" y="0"/>
                </a:lnTo>
                <a:lnTo>
                  <a:pt x="1079383" y="926307"/>
                </a:lnTo>
                <a:lnTo>
                  <a:pt x="0" y="9263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Freeform 16"/>
          <p:cNvSpPr/>
          <p:nvPr/>
        </p:nvSpPr>
        <p:spPr>
          <a:xfrm flipH="1">
            <a:off x="13122471" y="8412337"/>
            <a:ext cx="2748613" cy="2138921"/>
          </a:xfrm>
          <a:custGeom>
            <a:avLst/>
            <a:gdLst/>
            <a:ahLst/>
            <a:cxnLst/>
            <a:rect l="l" t="t" r="r" b="b"/>
            <a:pathLst>
              <a:path w="2748613" h="2138921">
                <a:moveTo>
                  <a:pt x="2748613" y="0"/>
                </a:moveTo>
                <a:lnTo>
                  <a:pt x="0" y="0"/>
                </a:lnTo>
                <a:lnTo>
                  <a:pt x="0" y="2138921"/>
                </a:lnTo>
                <a:lnTo>
                  <a:pt x="2748613" y="2138921"/>
                </a:lnTo>
                <a:lnTo>
                  <a:pt x="274861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a:off x="7176013" y="138796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8" name="Freeform 18"/>
          <p:cNvSpPr/>
          <p:nvPr/>
        </p:nvSpPr>
        <p:spPr>
          <a:xfrm>
            <a:off x="349811" y="5471584"/>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Freeform 19"/>
          <p:cNvSpPr/>
          <p:nvPr/>
        </p:nvSpPr>
        <p:spPr>
          <a:xfrm>
            <a:off x="16912548" y="1028700"/>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0" name="Freeform 20"/>
          <p:cNvSpPr/>
          <p:nvPr/>
        </p:nvSpPr>
        <p:spPr>
          <a:xfrm>
            <a:off x="11996921" y="327024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1" name="Freeform 21"/>
          <p:cNvSpPr/>
          <p:nvPr/>
        </p:nvSpPr>
        <p:spPr>
          <a:xfrm>
            <a:off x="8735877" y="3496095"/>
            <a:ext cx="235742" cy="232742"/>
          </a:xfrm>
          <a:custGeom>
            <a:avLst/>
            <a:gdLst/>
            <a:ahLst/>
            <a:cxnLst/>
            <a:rect l="l" t="t" r="r" b="b"/>
            <a:pathLst>
              <a:path w="235742" h="232742">
                <a:moveTo>
                  <a:pt x="0" y="0"/>
                </a:moveTo>
                <a:lnTo>
                  <a:pt x="235742" y="0"/>
                </a:lnTo>
                <a:lnTo>
                  <a:pt x="235742" y="232742"/>
                </a:lnTo>
                <a:lnTo>
                  <a:pt x="0" y="23274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2" name="Freeform 22"/>
          <p:cNvSpPr/>
          <p:nvPr/>
        </p:nvSpPr>
        <p:spPr>
          <a:xfrm>
            <a:off x="-917123" y="8653409"/>
            <a:ext cx="8012563" cy="1806469"/>
          </a:xfrm>
          <a:custGeom>
            <a:avLst/>
            <a:gdLst/>
            <a:ahLst/>
            <a:cxnLst/>
            <a:rect l="l" t="t" r="r" b="b"/>
            <a:pathLst>
              <a:path w="8012563" h="1806469">
                <a:moveTo>
                  <a:pt x="0" y="0"/>
                </a:moveTo>
                <a:lnTo>
                  <a:pt x="8012562" y="0"/>
                </a:lnTo>
                <a:lnTo>
                  <a:pt x="8012562" y="1806469"/>
                </a:lnTo>
                <a:lnTo>
                  <a:pt x="0" y="180646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3" name="Freeform 23"/>
          <p:cNvSpPr/>
          <p:nvPr/>
        </p:nvSpPr>
        <p:spPr>
          <a:xfrm>
            <a:off x="10510018" y="2079216"/>
            <a:ext cx="7297947" cy="5590628"/>
          </a:xfrm>
          <a:custGeom>
            <a:avLst/>
            <a:gdLst/>
            <a:ahLst/>
            <a:cxnLst/>
            <a:rect l="l" t="t" r="r" b="b"/>
            <a:pathLst>
              <a:path w="7297947" h="5590628">
                <a:moveTo>
                  <a:pt x="0" y="0"/>
                </a:moveTo>
                <a:lnTo>
                  <a:pt x="7297947" y="0"/>
                </a:lnTo>
                <a:lnTo>
                  <a:pt x="7297947" y="5590628"/>
                </a:lnTo>
                <a:lnTo>
                  <a:pt x="0" y="5590628"/>
                </a:lnTo>
                <a:lnTo>
                  <a:pt x="0" y="0"/>
                </a:lnTo>
                <a:close/>
              </a:path>
            </a:pathLst>
          </a:custGeom>
          <a:blipFill>
            <a:blip r:embed="rId13"/>
            <a:stretch>
              <a:fillRect l="-6437" r="-8470"/>
            </a:stretch>
          </a:blipFill>
        </p:spPr>
      </p:sp>
      <p:grpSp>
        <p:nvGrpSpPr>
          <p:cNvPr id="24" name="Group 24"/>
          <p:cNvGrpSpPr/>
          <p:nvPr/>
        </p:nvGrpSpPr>
        <p:grpSpPr>
          <a:xfrm>
            <a:off x="745339" y="310344"/>
            <a:ext cx="4670373" cy="958315"/>
            <a:chOff x="0" y="0"/>
            <a:chExt cx="6227165" cy="1277753"/>
          </a:xfrm>
        </p:grpSpPr>
        <p:sp>
          <p:nvSpPr>
            <p:cNvPr id="25" name="TextBox 25"/>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26" name="Freeform 26"/>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14"/>
              <a:stretch>
                <a:fillRect/>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369076" y="6099891"/>
            <a:ext cx="5539108" cy="1611377"/>
          </a:xfrm>
          <a:custGeom>
            <a:avLst/>
            <a:gdLst/>
            <a:ahLst/>
            <a:cxnLst/>
            <a:rect l="l" t="t" r="r" b="b"/>
            <a:pathLst>
              <a:path w="5539108" h="1611377">
                <a:moveTo>
                  <a:pt x="0" y="0"/>
                </a:moveTo>
                <a:lnTo>
                  <a:pt x="5539107" y="0"/>
                </a:lnTo>
                <a:lnTo>
                  <a:pt x="5539107" y="1611377"/>
                </a:lnTo>
                <a:lnTo>
                  <a:pt x="0" y="16113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flipH="1">
            <a:off x="6243096" y="1336520"/>
            <a:ext cx="3706422" cy="1078232"/>
          </a:xfrm>
          <a:custGeom>
            <a:avLst/>
            <a:gdLst/>
            <a:ahLst/>
            <a:cxnLst/>
            <a:rect l="l" t="t" r="r" b="b"/>
            <a:pathLst>
              <a:path w="3706422" h="1078232">
                <a:moveTo>
                  <a:pt x="3706422" y="0"/>
                </a:moveTo>
                <a:lnTo>
                  <a:pt x="0" y="0"/>
                </a:lnTo>
                <a:lnTo>
                  <a:pt x="0" y="1078232"/>
                </a:lnTo>
                <a:lnTo>
                  <a:pt x="3706422" y="1078232"/>
                </a:lnTo>
                <a:lnTo>
                  <a:pt x="3706422"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364203" y="8282768"/>
            <a:ext cx="21919348" cy="2544178"/>
            <a:chOff x="0" y="0"/>
            <a:chExt cx="5772997" cy="670072"/>
          </a:xfrm>
        </p:grpSpPr>
        <p:sp>
          <p:nvSpPr>
            <p:cNvPr id="5" name="Freeform 5"/>
            <p:cNvSpPr/>
            <p:nvPr/>
          </p:nvSpPr>
          <p:spPr>
            <a:xfrm>
              <a:off x="0" y="0"/>
              <a:ext cx="5772997" cy="670072"/>
            </a:xfrm>
            <a:custGeom>
              <a:avLst/>
              <a:gdLst/>
              <a:ahLst/>
              <a:cxnLst/>
              <a:rect l="l" t="t" r="r" b="b"/>
              <a:pathLst>
                <a:path w="5772997" h="670072">
                  <a:moveTo>
                    <a:pt x="0" y="0"/>
                  </a:moveTo>
                  <a:lnTo>
                    <a:pt x="5772997" y="0"/>
                  </a:lnTo>
                  <a:lnTo>
                    <a:pt x="5772997" y="670072"/>
                  </a:lnTo>
                  <a:lnTo>
                    <a:pt x="0" y="670072"/>
                  </a:lnTo>
                  <a:close/>
                </a:path>
              </a:pathLst>
            </a:custGeom>
            <a:gradFill rotWithShape="1">
              <a:gsLst>
                <a:gs pos="0">
                  <a:srgbClr val="23AC3A">
                    <a:alpha val="100000"/>
                  </a:srgbClr>
                </a:gs>
                <a:gs pos="100000">
                  <a:srgbClr val="81CC7D">
                    <a:alpha val="100000"/>
                  </a:srgbClr>
                </a:gs>
              </a:gsLst>
              <a:lin ang="5400000"/>
            </a:gradFill>
          </p:spPr>
        </p:sp>
        <p:sp>
          <p:nvSpPr>
            <p:cNvPr id="6" name="TextBox 6"/>
            <p:cNvSpPr txBox="1"/>
            <p:nvPr/>
          </p:nvSpPr>
          <p:spPr>
            <a:xfrm>
              <a:off x="0" y="-38100"/>
              <a:ext cx="5772997" cy="70817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10743148" y="6099891"/>
            <a:ext cx="5049367" cy="574365"/>
          </a:xfrm>
          <a:custGeom>
            <a:avLst/>
            <a:gdLst/>
            <a:ahLst/>
            <a:cxnLst/>
            <a:rect l="l" t="t" r="r" b="b"/>
            <a:pathLst>
              <a:path w="5049367" h="574365">
                <a:moveTo>
                  <a:pt x="0" y="0"/>
                </a:moveTo>
                <a:lnTo>
                  <a:pt x="5049367" y="0"/>
                </a:lnTo>
                <a:lnTo>
                  <a:pt x="5049367" y="574366"/>
                </a:lnTo>
                <a:lnTo>
                  <a:pt x="0" y="574366"/>
                </a:lnTo>
                <a:lnTo>
                  <a:pt x="0" y="0"/>
                </a:lnTo>
                <a:close/>
              </a:path>
            </a:pathLst>
          </a:custGeom>
          <a:blipFill>
            <a:blip r:embed="rId5"/>
            <a:stretch>
              <a:fillRect/>
            </a:stretch>
          </a:blipFill>
        </p:spPr>
      </p:sp>
      <p:sp>
        <p:nvSpPr>
          <p:cNvPr id="8" name="Freeform 8"/>
          <p:cNvSpPr/>
          <p:nvPr/>
        </p:nvSpPr>
        <p:spPr>
          <a:xfrm>
            <a:off x="10743148" y="8713299"/>
            <a:ext cx="5049367" cy="574365"/>
          </a:xfrm>
          <a:custGeom>
            <a:avLst/>
            <a:gdLst/>
            <a:ahLst/>
            <a:cxnLst/>
            <a:rect l="l" t="t" r="r" b="b"/>
            <a:pathLst>
              <a:path w="5049367" h="574365">
                <a:moveTo>
                  <a:pt x="0" y="0"/>
                </a:moveTo>
                <a:lnTo>
                  <a:pt x="5049367" y="0"/>
                </a:lnTo>
                <a:lnTo>
                  <a:pt x="5049367" y="574366"/>
                </a:lnTo>
                <a:lnTo>
                  <a:pt x="0" y="574366"/>
                </a:lnTo>
                <a:lnTo>
                  <a:pt x="0" y="0"/>
                </a:lnTo>
                <a:close/>
              </a:path>
            </a:pathLst>
          </a:custGeom>
          <a:blipFill>
            <a:blip r:embed="rId5"/>
            <a:stretch>
              <a:fillRect/>
            </a:stretch>
          </a:blipFill>
        </p:spPr>
      </p:sp>
      <p:sp>
        <p:nvSpPr>
          <p:cNvPr id="9" name="Freeform 9"/>
          <p:cNvSpPr/>
          <p:nvPr/>
        </p:nvSpPr>
        <p:spPr>
          <a:xfrm>
            <a:off x="14913058" y="530831"/>
            <a:ext cx="5539108" cy="1611377"/>
          </a:xfrm>
          <a:custGeom>
            <a:avLst/>
            <a:gdLst/>
            <a:ahLst/>
            <a:cxnLst/>
            <a:rect l="l" t="t" r="r" b="b"/>
            <a:pathLst>
              <a:path w="5539108" h="1611377">
                <a:moveTo>
                  <a:pt x="0" y="0"/>
                </a:moveTo>
                <a:lnTo>
                  <a:pt x="5539108" y="0"/>
                </a:lnTo>
                <a:lnTo>
                  <a:pt x="5539108" y="1611377"/>
                </a:lnTo>
                <a:lnTo>
                  <a:pt x="0" y="16113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5233473" y="1498503"/>
            <a:ext cx="1118083" cy="1136379"/>
          </a:xfrm>
          <a:custGeom>
            <a:avLst/>
            <a:gdLst/>
            <a:ahLst/>
            <a:cxnLst/>
            <a:rect l="l" t="t" r="r" b="b"/>
            <a:pathLst>
              <a:path w="1118083" h="1136379">
                <a:moveTo>
                  <a:pt x="0" y="0"/>
                </a:moveTo>
                <a:lnTo>
                  <a:pt x="1118084" y="0"/>
                </a:lnTo>
                <a:lnTo>
                  <a:pt x="1118084" y="1136379"/>
                </a:lnTo>
                <a:lnTo>
                  <a:pt x="0" y="11363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519814" y="8075518"/>
            <a:ext cx="3115332" cy="2424295"/>
          </a:xfrm>
          <a:custGeom>
            <a:avLst/>
            <a:gdLst/>
            <a:ahLst/>
            <a:cxnLst/>
            <a:rect l="l" t="t" r="r" b="b"/>
            <a:pathLst>
              <a:path w="3115332" h="2424295">
                <a:moveTo>
                  <a:pt x="0" y="0"/>
                </a:moveTo>
                <a:lnTo>
                  <a:pt x="3115331" y="0"/>
                </a:lnTo>
                <a:lnTo>
                  <a:pt x="3115331" y="2424294"/>
                </a:lnTo>
                <a:lnTo>
                  <a:pt x="0" y="24242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15965891" y="5143500"/>
            <a:ext cx="3780194" cy="5957326"/>
          </a:xfrm>
          <a:custGeom>
            <a:avLst/>
            <a:gdLst/>
            <a:ahLst/>
            <a:cxnLst/>
            <a:rect l="l" t="t" r="r" b="b"/>
            <a:pathLst>
              <a:path w="3780194" h="5957326">
                <a:moveTo>
                  <a:pt x="0" y="0"/>
                </a:moveTo>
                <a:lnTo>
                  <a:pt x="3780194" y="0"/>
                </a:lnTo>
                <a:lnTo>
                  <a:pt x="3780194" y="5957326"/>
                </a:lnTo>
                <a:lnTo>
                  <a:pt x="0" y="59573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9022539" y="7203317"/>
            <a:ext cx="1438236" cy="1119209"/>
          </a:xfrm>
          <a:custGeom>
            <a:avLst/>
            <a:gdLst/>
            <a:ahLst/>
            <a:cxnLst/>
            <a:rect l="l" t="t" r="r" b="b"/>
            <a:pathLst>
              <a:path w="1438236" h="1119209">
                <a:moveTo>
                  <a:pt x="0" y="0"/>
                </a:moveTo>
                <a:lnTo>
                  <a:pt x="1438236" y="0"/>
                </a:lnTo>
                <a:lnTo>
                  <a:pt x="1438236" y="1119209"/>
                </a:lnTo>
                <a:lnTo>
                  <a:pt x="0" y="111920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9144000" y="9258300"/>
            <a:ext cx="2977874" cy="2014126"/>
          </a:xfrm>
          <a:custGeom>
            <a:avLst/>
            <a:gdLst/>
            <a:ahLst/>
            <a:cxnLst/>
            <a:rect l="l" t="t" r="r" b="b"/>
            <a:pathLst>
              <a:path w="2977874" h="2014126">
                <a:moveTo>
                  <a:pt x="0" y="0"/>
                </a:moveTo>
                <a:lnTo>
                  <a:pt x="2977874" y="0"/>
                </a:lnTo>
                <a:lnTo>
                  <a:pt x="2977874" y="2014126"/>
                </a:lnTo>
                <a:lnTo>
                  <a:pt x="0" y="201412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855324" y="1565178"/>
            <a:ext cx="7865258" cy="780415"/>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Customer Gains</a:t>
            </a:r>
          </a:p>
        </p:txBody>
      </p:sp>
      <p:sp>
        <p:nvSpPr>
          <p:cNvPr id="16" name="Freeform 16"/>
          <p:cNvSpPr/>
          <p:nvPr/>
        </p:nvSpPr>
        <p:spPr>
          <a:xfrm>
            <a:off x="7176013" y="138796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7" name="Freeform 17"/>
          <p:cNvSpPr/>
          <p:nvPr/>
        </p:nvSpPr>
        <p:spPr>
          <a:xfrm>
            <a:off x="17509236" y="2630980"/>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8" name="Freeform 18"/>
          <p:cNvSpPr/>
          <p:nvPr/>
        </p:nvSpPr>
        <p:spPr>
          <a:xfrm>
            <a:off x="9776142" y="4270626"/>
            <a:ext cx="286276" cy="282633"/>
          </a:xfrm>
          <a:custGeom>
            <a:avLst/>
            <a:gdLst/>
            <a:ahLst/>
            <a:cxnLst/>
            <a:rect l="l" t="t" r="r" b="b"/>
            <a:pathLst>
              <a:path w="286276" h="282633">
                <a:moveTo>
                  <a:pt x="0" y="0"/>
                </a:moveTo>
                <a:lnTo>
                  <a:pt x="286277" y="0"/>
                </a:lnTo>
                <a:lnTo>
                  <a:pt x="286277" y="282633"/>
                </a:lnTo>
                <a:lnTo>
                  <a:pt x="0" y="28263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9" name="Freeform 19"/>
          <p:cNvSpPr/>
          <p:nvPr/>
        </p:nvSpPr>
        <p:spPr>
          <a:xfrm>
            <a:off x="855324" y="6674257"/>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0" name="Freeform 20"/>
          <p:cNvSpPr/>
          <p:nvPr/>
        </p:nvSpPr>
        <p:spPr>
          <a:xfrm>
            <a:off x="12867067" y="587652"/>
            <a:ext cx="286276" cy="282633"/>
          </a:xfrm>
          <a:custGeom>
            <a:avLst/>
            <a:gdLst/>
            <a:ahLst/>
            <a:cxnLst/>
            <a:rect l="l" t="t" r="r" b="b"/>
            <a:pathLst>
              <a:path w="286276" h="282633">
                <a:moveTo>
                  <a:pt x="0" y="0"/>
                </a:moveTo>
                <a:lnTo>
                  <a:pt x="286276" y="0"/>
                </a:lnTo>
                <a:lnTo>
                  <a:pt x="286276" y="282632"/>
                </a:lnTo>
                <a:lnTo>
                  <a:pt x="0" y="28263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21" name="Group 21"/>
          <p:cNvGrpSpPr/>
          <p:nvPr/>
        </p:nvGrpSpPr>
        <p:grpSpPr>
          <a:xfrm>
            <a:off x="644442" y="2572173"/>
            <a:ext cx="7019658" cy="2919037"/>
            <a:chOff x="0" y="0"/>
            <a:chExt cx="9359544" cy="3892050"/>
          </a:xfrm>
        </p:grpSpPr>
        <p:grpSp>
          <p:nvGrpSpPr>
            <p:cNvPr id="22" name="Group 22"/>
            <p:cNvGrpSpPr/>
            <p:nvPr/>
          </p:nvGrpSpPr>
          <p:grpSpPr>
            <a:xfrm>
              <a:off x="0" y="0"/>
              <a:ext cx="9359544" cy="3892050"/>
              <a:chOff x="0" y="0"/>
              <a:chExt cx="1329874" cy="553012"/>
            </a:xfrm>
          </p:grpSpPr>
          <p:sp>
            <p:nvSpPr>
              <p:cNvPr id="23" name="Freeform 23"/>
              <p:cNvSpPr/>
              <p:nvPr/>
            </p:nvSpPr>
            <p:spPr>
              <a:xfrm>
                <a:off x="0" y="0"/>
                <a:ext cx="1329874" cy="553012"/>
              </a:xfrm>
              <a:custGeom>
                <a:avLst/>
                <a:gdLst/>
                <a:ahLst/>
                <a:cxnLst/>
                <a:rect l="l" t="t" r="r" b="b"/>
                <a:pathLst>
                  <a:path w="1329874" h="553012">
                    <a:moveTo>
                      <a:pt x="22667" y="0"/>
                    </a:moveTo>
                    <a:lnTo>
                      <a:pt x="1307207" y="0"/>
                    </a:lnTo>
                    <a:cubicBezTo>
                      <a:pt x="1313219" y="0"/>
                      <a:pt x="1318984" y="2388"/>
                      <a:pt x="1323235" y="6639"/>
                    </a:cubicBezTo>
                    <a:cubicBezTo>
                      <a:pt x="1327486" y="10890"/>
                      <a:pt x="1329874" y="16655"/>
                      <a:pt x="1329874" y="22667"/>
                    </a:cubicBezTo>
                    <a:lnTo>
                      <a:pt x="1329874" y="530345"/>
                    </a:lnTo>
                    <a:cubicBezTo>
                      <a:pt x="1329874" y="542863"/>
                      <a:pt x="1319726" y="553012"/>
                      <a:pt x="1307207" y="553012"/>
                    </a:cubicBezTo>
                    <a:lnTo>
                      <a:pt x="22667" y="553012"/>
                    </a:lnTo>
                    <a:cubicBezTo>
                      <a:pt x="10148" y="553012"/>
                      <a:pt x="0" y="542863"/>
                      <a:pt x="0" y="530345"/>
                    </a:cubicBezTo>
                    <a:lnTo>
                      <a:pt x="0" y="22667"/>
                    </a:lnTo>
                    <a:cubicBezTo>
                      <a:pt x="0" y="10148"/>
                      <a:pt x="10148" y="0"/>
                      <a:pt x="22667" y="0"/>
                    </a:cubicBezTo>
                    <a:close/>
                  </a:path>
                </a:pathLst>
              </a:custGeom>
              <a:solidFill>
                <a:srgbClr val="FFFFFF"/>
              </a:solidFill>
            </p:spPr>
          </p:sp>
          <p:sp>
            <p:nvSpPr>
              <p:cNvPr id="24" name="TextBox 24"/>
              <p:cNvSpPr txBox="1"/>
              <p:nvPr/>
            </p:nvSpPr>
            <p:spPr>
              <a:xfrm>
                <a:off x="0" y="-38100"/>
                <a:ext cx="1329874" cy="591112"/>
              </a:xfrm>
              <a:prstGeom prst="rect">
                <a:avLst/>
              </a:prstGeom>
            </p:spPr>
            <p:txBody>
              <a:bodyPr lIns="82469" tIns="82469" rIns="82469" bIns="82469" rtlCol="0" anchor="ctr"/>
              <a:lstStyle/>
              <a:p>
                <a:pPr algn="ctr">
                  <a:lnSpc>
                    <a:spcPts val="2659"/>
                  </a:lnSpc>
                </a:pPr>
                <a:endParaRPr/>
              </a:p>
            </p:txBody>
          </p:sp>
        </p:grpSp>
        <p:sp>
          <p:nvSpPr>
            <p:cNvPr id="25" name="TextBox 25"/>
            <p:cNvSpPr txBox="1"/>
            <p:nvPr/>
          </p:nvSpPr>
          <p:spPr>
            <a:xfrm>
              <a:off x="3791595" y="182080"/>
              <a:ext cx="5341964" cy="3385543"/>
            </a:xfrm>
            <a:prstGeom prst="rect">
              <a:avLst/>
            </a:prstGeom>
          </p:spPr>
          <p:txBody>
            <a:bodyPr wrap="square" lIns="0" tIns="0" rIns="0" bIns="0" rtlCol="0" anchor="t">
              <a:spAutoFit/>
            </a:bodyPr>
            <a:lstStyle/>
            <a:p>
              <a:pPr algn="ctr">
                <a:lnSpc>
                  <a:spcPts val="3336"/>
                </a:lnSpc>
              </a:pPr>
              <a:r>
                <a:rPr lang="en-US" sz="3336" dirty="0">
                  <a:solidFill>
                    <a:srgbClr val="01654F"/>
                  </a:solidFill>
                  <a:latin typeface="Times New Roman"/>
                  <a:ea typeface="Times New Roman"/>
                  <a:cs typeface="Times New Roman"/>
                  <a:sym typeface="Times New Roman"/>
                </a:rPr>
                <a:t>A hygienic and healthy living environment with limited waste accumulation (Schoeman and </a:t>
              </a:r>
              <a:r>
                <a:rPr lang="en-US" sz="3336" dirty="0" err="1">
                  <a:solidFill>
                    <a:srgbClr val="01654F"/>
                  </a:solidFill>
                  <a:latin typeface="Times New Roman"/>
                  <a:ea typeface="Times New Roman"/>
                  <a:cs typeface="Times New Roman"/>
                  <a:sym typeface="Times New Roman"/>
                </a:rPr>
                <a:t>Rampedi</a:t>
              </a:r>
              <a:r>
                <a:rPr lang="en-US" sz="3336" dirty="0">
                  <a:solidFill>
                    <a:srgbClr val="01654F"/>
                  </a:solidFill>
                  <a:latin typeface="Times New Roman"/>
                  <a:ea typeface="Times New Roman"/>
                  <a:cs typeface="Times New Roman"/>
                  <a:sym typeface="Times New Roman"/>
                </a:rPr>
                <a:t>, 2022)</a:t>
              </a:r>
            </a:p>
          </p:txBody>
        </p:sp>
        <p:sp>
          <p:nvSpPr>
            <p:cNvPr id="26" name="Freeform 26"/>
            <p:cNvSpPr/>
            <p:nvPr/>
          </p:nvSpPr>
          <p:spPr>
            <a:xfrm>
              <a:off x="693384" y="381315"/>
              <a:ext cx="3285783" cy="2987076"/>
            </a:xfrm>
            <a:custGeom>
              <a:avLst/>
              <a:gdLst/>
              <a:ahLst/>
              <a:cxnLst/>
              <a:rect l="l" t="t" r="r" b="b"/>
              <a:pathLst>
                <a:path w="3285783" h="2987076">
                  <a:moveTo>
                    <a:pt x="0" y="0"/>
                  </a:moveTo>
                  <a:lnTo>
                    <a:pt x="3285783" y="0"/>
                  </a:lnTo>
                  <a:lnTo>
                    <a:pt x="3285783" y="2987076"/>
                  </a:lnTo>
                  <a:lnTo>
                    <a:pt x="0" y="298707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grpSp>
        <p:nvGrpSpPr>
          <p:cNvPr id="27" name="Group 27"/>
          <p:cNvGrpSpPr/>
          <p:nvPr/>
        </p:nvGrpSpPr>
        <p:grpSpPr>
          <a:xfrm>
            <a:off x="9144000" y="870284"/>
            <a:ext cx="6878324" cy="2860265"/>
            <a:chOff x="0" y="0"/>
            <a:chExt cx="9171098" cy="3813687"/>
          </a:xfrm>
        </p:grpSpPr>
        <p:grpSp>
          <p:nvGrpSpPr>
            <p:cNvPr id="28" name="Group 28"/>
            <p:cNvGrpSpPr/>
            <p:nvPr/>
          </p:nvGrpSpPr>
          <p:grpSpPr>
            <a:xfrm>
              <a:off x="0" y="0"/>
              <a:ext cx="9171098" cy="3813687"/>
              <a:chOff x="0" y="0"/>
              <a:chExt cx="1329874" cy="553012"/>
            </a:xfrm>
          </p:grpSpPr>
          <p:sp>
            <p:nvSpPr>
              <p:cNvPr id="29" name="Freeform 29"/>
              <p:cNvSpPr/>
              <p:nvPr/>
            </p:nvSpPr>
            <p:spPr>
              <a:xfrm>
                <a:off x="0" y="0"/>
                <a:ext cx="1329874" cy="553012"/>
              </a:xfrm>
              <a:custGeom>
                <a:avLst/>
                <a:gdLst/>
                <a:ahLst/>
                <a:cxnLst/>
                <a:rect l="l" t="t" r="r" b="b"/>
                <a:pathLst>
                  <a:path w="1329874" h="553012">
                    <a:moveTo>
                      <a:pt x="22667" y="0"/>
                    </a:moveTo>
                    <a:lnTo>
                      <a:pt x="1307207" y="0"/>
                    </a:lnTo>
                    <a:cubicBezTo>
                      <a:pt x="1313219" y="0"/>
                      <a:pt x="1318984" y="2388"/>
                      <a:pt x="1323235" y="6639"/>
                    </a:cubicBezTo>
                    <a:cubicBezTo>
                      <a:pt x="1327486" y="10890"/>
                      <a:pt x="1329874" y="16655"/>
                      <a:pt x="1329874" y="22667"/>
                    </a:cubicBezTo>
                    <a:lnTo>
                      <a:pt x="1329874" y="530345"/>
                    </a:lnTo>
                    <a:cubicBezTo>
                      <a:pt x="1329874" y="542863"/>
                      <a:pt x="1319726" y="553012"/>
                      <a:pt x="1307207" y="553012"/>
                    </a:cubicBezTo>
                    <a:lnTo>
                      <a:pt x="22667" y="553012"/>
                    </a:lnTo>
                    <a:cubicBezTo>
                      <a:pt x="10148" y="553012"/>
                      <a:pt x="0" y="542863"/>
                      <a:pt x="0" y="530345"/>
                    </a:cubicBezTo>
                    <a:lnTo>
                      <a:pt x="0" y="22667"/>
                    </a:lnTo>
                    <a:cubicBezTo>
                      <a:pt x="0" y="10148"/>
                      <a:pt x="10148" y="0"/>
                      <a:pt x="22667" y="0"/>
                    </a:cubicBezTo>
                    <a:close/>
                  </a:path>
                </a:pathLst>
              </a:custGeom>
              <a:solidFill>
                <a:srgbClr val="FFFFFF"/>
              </a:solidFill>
            </p:spPr>
          </p:sp>
          <p:sp>
            <p:nvSpPr>
              <p:cNvPr id="30" name="TextBox 30"/>
              <p:cNvSpPr txBox="1"/>
              <p:nvPr/>
            </p:nvSpPr>
            <p:spPr>
              <a:xfrm>
                <a:off x="0" y="-38100"/>
                <a:ext cx="1329874" cy="591112"/>
              </a:xfrm>
              <a:prstGeom prst="rect">
                <a:avLst/>
              </a:prstGeom>
            </p:spPr>
            <p:txBody>
              <a:bodyPr lIns="82469" tIns="82469" rIns="82469" bIns="82469" rtlCol="0" anchor="ctr"/>
              <a:lstStyle/>
              <a:p>
                <a:pPr algn="ctr">
                  <a:lnSpc>
                    <a:spcPts val="2660"/>
                  </a:lnSpc>
                </a:pPr>
                <a:endParaRPr/>
              </a:p>
            </p:txBody>
          </p:sp>
        </p:grpSp>
        <p:sp>
          <p:nvSpPr>
            <p:cNvPr id="31" name="TextBox 31"/>
            <p:cNvSpPr txBox="1"/>
            <p:nvPr/>
          </p:nvSpPr>
          <p:spPr>
            <a:xfrm>
              <a:off x="4207286" y="320384"/>
              <a:ext cx="4575861" cy="3385543"/>
            </a:xfrm>
            <a:prstGeom prst="rect">
              <a:avLst/>
            </a:prstGeom>
          </p:spPr>
          <p:txBody>
            <a:bodyPr lIns="0" tIns="0" rIns="0" bIns="0" rtlCol="0" anchor="t">
              <a:spAutoFit/>
            </a:bodyPr>
            <a:lstStyle/>
            <a:p>
              <a:pPr algn="ctr">
                <a:lnSpc>
                  <a:spcPts val="3269"/>
                </a:lnSpc>
              </a:pPr>
              <a:r>
                <a:rPr lang="en-US" sz="3269" dirty="0">
                  <a:solidFill>
                    <a:srgbClr val="01654F"/>
                  </a:solidFill>
                  <a:latin typeface="Times New Roman"/>
                  <a:ea typeface="Times New Roman"/>
                  <a:cs typeface="Times New Roman"/>
                  <a:sym typeface="Times New Roman"/>
                </a:rPr>
                <a:t>Time saved due to reliable and scheduled pick up without repetitive follow-ups (</a:t>
              </a:r>
              <a:r>
                <a:rPr lang="en-US" sz="3269" dirty="0" err="1">
                  <a:solidFill>
                    <a:srgbClr val="01654F"/>
                  </a:solidFill>
                  <a:latin typeface="Times New Roman"/>
                  <a:ea typeface="Times New Roman"/>
                  <a:cs typeface="Times New Roman"/>
                  <a:sym typeface="Times New Roman"/>
                </a:rPr>
                <a:t>Faiz</a:t>
              </a:r>
              <a:r>
                <a:rPr lang="en-US" sz="3269" dirty="0">
                  <a:solidFill>
                    <a:srgbClr val="01654F"/>
                  </a:solidFill>
                  <a:latin typeface="Times New Roman"/>
                  <a:ea typeface="Times New Roman"/>
                  <a:cs typeface="Times New Roman"/>
                  <a:sym typeface="Times New Roman"/>
                </a:rPr>
                <a:t> et al., 2024)</a:t>
              </a:r>
            </a:p>
          </p:txBody>
        </p:sp>
        <p:sp>
          <p:nvSpPr>
            <p:cNvPr id="32" name="Freeform 32"/>
            <p:cNvSpPr/>
            <p:nvPr/>
          </p:nvSpPr>
          <p:spPr>
            <a:xfrm>
              <a:off x="558562" y="353515"/>
              <a:ext cx="1781451" cy="1589945"/>
            </a:xfrm>
            <a:custGeom>
              <a:avLst/>
              <a:gdLst/>
              <a:ahLst/>
              <a:cxnLst/>
              <a:rect l="l" t="t" r="r" b="b"/>
              <a:pathLst>
                <a:path w="1781451" h="1589945">
                  <a:moveTo>
                    <a:pt x="0" y="0"/>
                  </a:moveTo>
                  <a:lnTo>
                    <a:pt x="1781451" y="0"/>
                  </a:lnTo>
                  <a:lnTo>
                    <a:pt x="1781451" y="1589945"/>
                  </a:lnTo>
                  <a:lnTo>
                    <a:pt x="0" y="1589945"/>
                  </a:lnTo>
                  <a:lnTo>
                    <a:pt x="0" y="0"/>
                  </a:lnTo>
                  <a:close/>
                </a:path>
              </a:pathLst>
            </a:custGeom>
            <a:blipFill>
              <a:blip r:embed="rId20"/>
              <a:stretch>
                <a:fillRect/>
              </a:stretch>
            </a:blipFill>
          </p:spPr>
        </p:sp>
        <p:sp>
          <p:nvSpPr>
            <p:cNvPr id="33" name="Freeform 33"/>
            <p:cNvSpPr/>
            <p:nvPr/>
          </p:nvSpPr>
          <p:spPr>
            <a:xfrm>
              <a:off x="1066580" y="1783912"/>
              <a:ext cx="3183813" cy="1730837"/>
            </a:xfrm>
            <a:custGeom>
              <a:avLst/>
              <a:gdLst/>
              <a:ahLst/>
              <a:cxnLst/>
              <a:rect l="l" t="t" r="r" b="b"/>
              <a:pathLst>
                <a:path w="3183813" h="1730837">
                  <a:moveTo>
                    <a:pt x="0" y="0"/>
                  </a:moveTo>
                  <a:lnTo>
                    <a:pt x="3183813" y="0"/>
                  </a:lnTo>
                  <a:lnTo>
                    <a:pt x="3183813" y="1730837"/>
                  </a:lnTo>
                  <a:lnTo>
                    <a:pt x="0" y="1730837"/>
                  </a:lnTo>
                  <a:lnTo>
                    <a:pt x="0" y="0"/>
                  </a:lnTo>
                  <a:close/>
                </a:path>
              </a:pathLst>
            </a:custGeom>
            <a:blipFill>
              <a:blip r:embed="rId21"/>
              <a:stretch>
                <a:fillRect/>
              </a:stretch>
            </a:blipFill>
          </p:spPr>
        </p:sp>
      </p:grpSp>
      <p:grpSp>
        <p:nvGrpSpPr>
          <p:cNvPr id="34" name="Group 34"/>
          <p:cNvGrpSpPr/>
          <p:nvPr/>
        </p:nvGrpSpPr>
        <p:grpSpPr>
          <a:xfrm>
            <a:off x="9232913" y="3901118"/>
            <a:ext cx="6789411" cy="2823292"/>
            <a:chOff x="0" y="0"/>
            <a:chExt cx="9052548" cy="3764389"/>
          </a:xfrm>
        </p:grpSpPr>
        <p:sp>
          <p:nvSpPr>
            <p:cNvPr id="35" name="Freeform 35"/>
            <p:cNvSpPr/>
            <p:nvPr/>
          </p:nvSpPr>
          <p:spPr>
            <a:xfrm>
              <a:off x="1250384" y="1209512"/>
              <a:ext cx="5822565" cy="662317"/>
            </a:xfrm>
            <a:custGeom>
              <a:avLst/>
              <a:gdLst/>
              <a:ahLst/>
              <a:cxnLst/>
              <a:rect l="l" t="t" r="r" b="b"/>
              <a:pathLst>
                <a:path w="5822565" h="662317">
                  <a:moveTo>
                    <a:pt x="0" y="0"/>
                  </a:moveTo>
                  <a:lnTo>
                    <a:pt x="5822565" y="0"/>
                  </a:lnTo>
                  <a:lnTo>
                    <a:pt x="5822565" y="662317"/>
                  </a:lnTo>
                  <a:lnTo>
                    <a:pt x="0" y="662317"/>
                  </a:lnTo>
                  <a:lnTo>
                    <a:pt x="0" y="0"/>
                  </a:lnTo>
                  <a:close/>
                </a:path>
              </a:pathLst>
            </a:custGeom>
            <a:blipFill>
              <a:blip r:embed="rId5"/>
              <a:stretch>
                <a:fillRect/>
              </a:stretch>
            </a:blipFill>
          </p:spPr>
        </p:sp>
        <p:grpSp>
          <p:nvGrpSpPr>
            <p:cNvPr id="36" name="Group 36"/>
            <p:cNvGrpSpPr/>
            <p:nvPr/>
          </p:nvGrpSpPr>
          <p:grpSpPr>
            <a:xfrm>
              <a:off x="0" y="0"/>
              <a:ext cx="9052548" cy="3764389"/>
              <a:chOff x="0" y="0"/>
              <a:chExt cx="1329874" cy="553012"/>
            </a:xfrm>
          </p:grpSpPr>
          <p:sp>
            <p:nvSpPr>
              <p:cNvPr id="37" name="Freeform 37"/>
              <p:cNvSpPr/>
              <p:nvPr/>
            </p:nvSpPr>
            <p:spPr>
              <a:xfrm>
                <a:off x="0" y="0"/>
                <a:ext cx="1329874" cy="553012"/>
              </a:xfrm>
              <a:custGeom>
                <a:avLst/>
                <a:gdLst/>
                <a:ahLst/>
                <a:cxnLst/>
                <a:rect l="l" t="t" r="r" b="b"/>
                <a:pathLst>
                  <a:path w="1329874" h="553012">
                    <a:moveTo>
                      <a:pt x="22667" y="0"/>
                    </a:moveTo>
                    <a:lnTo>
                      <a:pt x="1307207" y="0"/>
                    </a:lnTo>
                    <a:cubicBezTo>
                      <a:pt x="1313219" y="0"/>
                      <a:pt x="1318984" y="2388"/>
                      <a:pt x="1323235" y="6639"/>
                    </a:cubicBezTo>
                    <a:cubicBezTo>
                      <a:pt x="1327486" y="10890"/>
                      <a:pt x="1329874" y="16655"/>
                      <a:pt x="1329874" y="22667"/>
                    </a:cubicBezTo>
                    <a:lnTo>
                      <a:pt x="1329874" y="530345"/>
                    </a:lnTo>
                    <a:cubicBezTo>
                      <a:pt x="1329874" y="542863"/>
                      <a:pt x="1319726" y="553012"/>
                      <a:pt x="1307207" y="553012"/>
                    </a:cubicBezTo>
                    <a:lnTo>
                      <a:pt x="22667" y="553012"/>
                    </a:lnTo>
                    <a:cubicBezTo>
                      <a:pt x="10148" y="553012"/>
                      <a:pt x="0" y="542863"/>
                      <a:pt x="0" y="530345"/>
                    </a:cubicBezTo>
                    <a:lnTo>
                      <a:pt x="0" y="22667"/>
                    </a:lnTo>
                    <a:cubicBezTo>
                      <a:pt x="0" y="10148"/>
                      <a:pt x="10148" y="0"/>
                      <a:pt x="22667" y="0"/>
                    </a:cubicBezTo>
                    <a:close/>
                  </a:path>
                </a:pathLst>
              </a:custGeom>
              <a:solidFill>
                <a:srgbClr val="FFFFFF"/>
              </a:solidFill>
            </p:spPr>
          </p:sp>
          <p:sp>
            <p:nvSpPr>
              <p:cNvPr id="38" name="TextBox 38"/>
              <p:cNvSpPr txBox="1"/>
              <p:nvPr/>
            </p:nvSpPr>
            <p:spPr>
              <a:xfrm>
                <a:off x="0" y="-38100"/>
                <a:ext cx="1329874" cy="591112"/>
              </a:xfrm>
              <a:prstGeom prst="rect">
                <a:avLst/>
              </a:prstGeom>
            </p:spPr>
            <p:txBody>
              <a:bodyPr lIns="82469" tIns="82469" rIns="82469" bIns="82469" rtlCol="0" anchor="ctr"/>
              <a:lstStyle/>
              <a:p>
                <a:pPr algn="ctr">
                  <a:lnSpc>
                    <a:spcPts val="2659"/>
                  </a:lnSpc>
                </a:pPr>
                <a:endParaRPr/>
              </a:p>
            </p:txBody>
          </p:sp>
        </p:grpSp>
        <p:sp>
          <p:nvSpPr>
            <p:cNvPr id="39" name="TextBox 39"/>
            <p:cNvSpPr txBox="1"/>
            <p:nvPr/>
          </p:nvSpPr>
          <p:spPr>
            <a:xfrm>
              <a:off x="3898021" y="304988"/>
              <a:ext cx="4516711" cy="3282951"/>
            </a:xfrm>
            <a:prstGeom prst="rect">
              <a:avLst/>
            </a:prstGeom>
          </p:spPr>
          <p:txBody>
            <a:bodyPr lIns="0" tIns="0" rIns="0" bIns="0" rtlCol="0" anchor="t">
              <a:spAutoFit/>
            </a:bodyPr>
            <a:lstStyle/>
            <a:p>
              <a:pPr algn="ctr">
                <a:lnSpc>
                  <a:spcPts val="3227"/>
                </a:lnSpc>
              </a:pPr>
              <a:r>
                <a:rPr lang="en-US" sz="3227" dirty="0">
                  <a:solidFill>
                    <a:srgbClr val="01654F"/>
                  </a:solidFill>
                  <a:latin typeface="Times New Roman"/>
                  <a:ea typeface="Times New Roman"/>
                  <a:cs typeface="Times New Roman"/>
                  <a:sym typeface="Times New Roman"/>
                </a:rPr>
                <a:t>Satisfaction in knowing that waste is disposed of responsibly (Roberts-Lombard, </a:t>
              </a:r>
              <a:r>
                <a:rPr lang="en-US" sz="3227" dirty="0" err="1">
                  <a:solidFill>
                    <a:srgbClr val="01654F"/>
                  </a:solidFill>
                  <a:latin typeface="Times New Roman"/>
                  <a:ea typeface="Times New Roman"/>
                  <a:cs typeface="Times New Roman"/>
                  <a:sym typeface="Times New Roman"/>
                </a:rPr>
                <a:t>Jaiyeoba</a:t>
              </a:r>
              <a:r>
                <a:rPr lang="en-US" sz="3227" dirty="0">
                  <a:solidFill>
                    <a:srgbClr val="01654F"/>
                  </a:solidFill>
                  <a:latin typeface="Times New Roman"/>
                  <a:ea typeface="Times New Roman"/>
                  <a:cs typeface="Times New Roman"/>
                  <a:sym typeface="Times New Roman"/>
                </a:rPr>
                <a:t>, 2025)</a:t>
              </a:r>
            </a:p>
          </p:txBody>
        </p:sp>
        <p:sp>
          <p:nvSpPr>
            <p:cNvPr id="40" name="Freeform 40"/>
            <p:cNvSpPr/>
            <p:nvPr/>
          </p:nvSpPr>
          <p:spPr>
            <a:xfrm>
              <a:off x="574650" y="316197"/>
              <a:ext cx="2686185" cy="3027463"/>
            </a:xfrm>
            <a:custGeom>
              <a:avLst/>
              <a:gdLst/>
              <a:ahLst/>
              <a:cxnLst/>
              <a:rect l="l" t="t" r="r" b="b"/>
              <a:pathLst>
                <a:path w="2686185" h="3027463">
                  <a:moveTo>
                    <a:pt x="0" y="0"/>
                  </a:moveTo>
                  <a:lnTo>
                    <a:pt x="2686185" y="0"/>
                  </a:lnTo>
                  <a:lnTo>
                    <a:pt x="2686185" y="3027463"/>
                  </a:lnTo>
                  <a:lnTo>
                    <a:pt x="0" y="3027463"/>
                  </a:lnTo>
                  <a:lnTo>
                    <a:pt x="0" y="0"/>
                  </a:lnTo>
                  <a:close/>
                </a:path>
              </a:pathLst>
            </a:custGeom>
            <a:blipFill>
              <a:blip r:embed="rId22"/>
              <a:stretch>
                <a:fillRect/>
              </a:stretch>
            </a:blipFill>
          </p:spPr>
        </p:sp>
        <p:sp>
          <p:nvSpPr>
            <p:cNvPr id="41" name="Freeform 41"/>
            <p:cNvSpPr/>
            <p:nvPr/>
          </p:nvSpPr>
          <p:spPr>
            <a:xfrm>
              <a:off x="2536711" y="2189778"/>
              <a:ext cx="1492936" cy="1422361"/>
            </a:xfrm>
            <a:custGeom>
              <a:avLst/>
              <a:gdLst/>
              <a:ahLst/>
              <a:cxnLst/>
              <a:rect l="l" t="t" r="r" b="b"/>
              <a:pathLst>
                <a:path w="1492936" h="1422361">
                  <a:moveTo>
                    <a:pt x="0" y="0"/>
                  </a:moveTo>
                  <a:lnTo>
                    <a:pt x="1492936" y="0"/>
                  </a:lnTo>
                  <a:lnTo>
                    <a:pt x="1492936" y="1422361"/>
                  </a:lnTo>
                  <a:lnTo>
                    <a:pt x="0" y="1422361"/>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grpSp>
      <p:grpSp>
        <p:nvGrpSpPr>
          <p:cNvPr id="42" name="Group 42"/>
          <p:cNvGrpSpPr/>
          <p:nvPr/>
        </p:nvGrpSpPr>
        <p:grpSpPr>
          <a:xfrm>
            <a:off x="9144000" y="6877005"/>
            <a:ext cx="6878324" cy="3275468"/>
            <a:chOff x="0" y="0"/>
            <a:chExt cx="9171098" cy="4367291"/>
          </a:xfrm>
        </p:grpSpPr>
        <p:grpSp>
          <p:nvGrpSpPr>
            <p:cNvPr id="43" name="Group 43"/>
            <p:cNvGrpSpPr/>
            <p:nvPr/>
          </p:nvGrpSpPr>
          <p:grpSpPr>
            <a:xfrm>
              <a:off x="0" y="0"/>
              <a:ext cx="9171098" cy="4367291"/>
              <a:chOff x="0" y="0"/>
              <a:chExt cx="1329874" cy="633288"/>
            </a:xfrm>
          </p:grpSpPr>
          <p:sp>
            <p:nvSpPr>
              <p:cNvPr id="44" name="Freeform 44"/>
              <p:cNvSpPr/>
              <p:nvPr/>
            </p:nvSpPr>
            <p:spPr>
              <a:xfrm>
                <a:off x="0" y="0"/>
                <a:ext cx="1329874" cy="633288"/>
              </a:xfrm>
              <a:custGeom>
                <a:avLst/>
                <a:gdLst/>
                <a:ahLst/>
                <a:cxnLst/>
                <a:rect l="l" t="t" r="r" b="b"/>
                <a:pathLst>
                  <a:path w="1329874" h="633288">
                    <a:moveTo>
                      <a:pt x="22667" y="0"/>
                    </a:moveTo>
                    <a:lnTo>
                      <a:pt x="1307207" y="0"/>
                    </a:lnTo>
                    <a:cubicBezTo>
                      <a:pt x="1313219" y="0"/>
                      <a:pt x="1318984" y="2388"/>
                      <a:pt x="1323235" y="6639"/>
                    </a:cubicBezTo>
                    <a:cubicBezTo>
                      <a:pt x="1327486" y="10890"/>
                      <a:pt x="1329874" y="16655"/>
                      <a:pt x="1329874" y="22667"/>
                    </a:cubicBezTo>
                    <a:lnTo>
                      <a:pt x="1329874" y="610621"/>
                    </a:lnTo>
                    <a:cubicBezTo>
                      <a:pt x="1329874" y="623140"/>
                      <a:pt x="1319726" y="633288"/>
                      <a:pt x="1307207" y="633288"/>
                    </a:cubicBezTo>
                    <a:lnTo>
                      <a:pt x="22667" y="633288"/>
                    </a:lnTo>
                    <a:cubicBezTo>
                      <a:pt x="10148" y="633288"/>
                      <a:pt x="0" y="623140"/>
                      <a:pt x="0" y="610621"/>
                    </a:cubicBezTo>
                    <a:lnTo>
                      <a:pt x="0" y="22667"/>
                    </a:lnTo>
                    <a:cubicBezTo>
                      <a:pt x="0" y="10148"/>
                      <a:pt x="10148" y="0"/>
                      <a:pt x="22667" y="0"/>
                    </a:cubicBezTo>
                    <a:close/>
                  </a:path>
                </a:pathLst>
              </a:custGeom>
              <a:solidFill>
                <a:srgbClr val="FFFFFF"/>
              </a:solidFill>
            </p:spPr>
          </p:sp>
          <p:sp>
            <p:nvSpPr>
              <p:cNvPr id="45" name="TextBox 45"/>
              <p:cNvSpPr txBox="1"/>
              <p:nvPr/>
            </p:nvSpPr>
            <p:spPr>
              <a:xfrm>
                <a:off x="0" y="-38100"/>
                <a:ext cx="1329874" cy="671388"/>
              </a:xfrm>
              <a:prstGeom prst="rect">
                <a:avLst/>
              </a:prstGeom>
            </p:spPr>
            <p:txBody>
              <a:bodyPr lIns="82469" tIns="82469" rIns="82469" bIns="82469" rtlCol="0" anchor="ctr"/>
              <a:lstStyle/>
              <a:p>
                <a:pPr algn="ctr">
                  <a:lnSpc>
                    <a:spcPts val="2660"/>
                  </a:lnSpc>
                </a:pPr>
                <a:endParaRPr/>
              </a:p>
            </p:txBody>
          </p:sp>
        </p:grpSp>
        <p:sp>
          <p:nvSpPr>
            <p:cNvPr id="46" name="TextBox 46"/>
            <p:cNvSpPr txBox="1"/>
            <p:nvPr/>
          </p:nvSpPr>
          <p:spPr>
            <a:xfrm>
              <a:off x="4207286" y="638464"/>
              <a:ext cx="4575861" cy="2821286"/>
            </a:xfrm>
            <a:prstGeom prst="rect">
              <a:avLst/>
            </a:prstGeom>
          </p:spPr>
          <p:txBody>
            <a:bodyPr lIns="0" tIns="0" rIns="0" bIns="0" rtlCol="0" anchor="t">
              <a:spAutoFit/>
            </a:bodyPr>
            <a:lstStyle/>
            <a:p>
              <a:pPr algn="ctr">
                <a:lnSpc>
                  <a:spcPts val="3269"/>
                </a:lnSpc>
              </a:pPr>
              <a:r>
                <a:rPr lang="en-US" sz="3269" dirty="0">
                  <a:solidFill>
                    <a:srgbClr val="01654F"/>
                  </a:solidFill>
                  <a:latin typeface="Times New Roman"/>
                  <a:ea typeface="Times New Roman"/>
                  <a:cs typeface="Times New Roman"/>
                  <a:sym typeface="Times New Roman"/>
                </a:rPr>
                <a:t>Community recognition as environmentally responsible citizens (</a:t>
              </a:r>
              <a:r>
                <a:rPr lang="en-US" sz="3269" dirty="0" err="1">
                  <a:solidFill>
                    <a:srgbClr val="01654F"/>
                  </a:solidFill>
                  <a:latin typeface="Times New Roman"/>
                  <a:ea typeface="Times New Roman"/>
                  <a:cs typeface="Times New Roman"/>
                  <a:sym typeface="Times New Roman"/>
                </a:rPr>
                <a:t>Etim</a:t>
              </a:r>
              <a:r>
                <a:rPr lang="en-US" sz="3269" dirty="0">
                  <a:solidFill>
                    <a:srgbClr val="01654F"/>
                  </a:solidFill>
                  <a:latin typeface="Times New Roman"/>
                  <a:ea typeface="Times New Roman"/>
                  <a:cs typeface="Times New Roman"/>
                  <a:sym typeface="Times New Roman"/>
                </a:rPr>
                <a:t>, 2024)</a:t>
              </a:r>
            </a:p>
          </p:txBody>
        </p:sp>
        <p:sp>
          <p:nvSpPr>
            <p:cNvPr id="47" name="Freeform 47"/>
            <p:cNvSpPr/>
            <p:nvPr/>
          </p:nvSpPr>
          <p:spPr>
            <a:xfrm>
              <a:off x="802859" y="719316"/>
              <a:ext cx="3234958" cy="3234958"/>
            </a:xfrm>
            <a:custGeom>
              <a:avLst/>
              <a:gdLst/>
              <a:ahLst/>
              <a:cxnLst/>
              <a:rect l="l" t="t" r="r" b="b"/>
              <a:pathLst>
                <a:path w="3234958" h="3234958">
                  <a:moveTo>
                    <a:pt x="0" y="0"/>
                  </a:moveTo>
                  <a:lnTo>
                    <a:pt x="3234958" y="0"/>
                  </a:lnTo>
                  <a:lnTo>
                    <a:pt x="3234958" y="3234958"/>
                  </a:lnTo>
                  <a:lnTo>
                    <a:pt x="0" y="3234958"/>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grpSp>
      <p:grpSp>
        <p:nvGrpSpPr>
          <p:cNvPr id="48" name="Group 48"/>
          <p:cNvGrpSpPr/>
          <p:nvPr/>
        </p:nvGrpSpPr>
        <p:grpSpPr>
          <a:xfrm>
            <a:off x="644442" y="5909391"/>
            <a:ext cx="7019658" cy="2919037"/>
            <a:chOff x="0" y="0"/>
            <a:chExt cx="9359544" cy="3892050"/>
          </a:xfrm>
        </p:grpSpPr>
        <p:grpSp>
          <p:nvGrpSpPr>
            <p:cNvPr id="49" name="Group 49"/>
            <p:cNvGrpSpPr/>
            <p:nvPr/>
          </p:nvGrpSpPr>
          <p:grpSpPr>
            <a:xfrm>
              <a:off x="0" y="0"/>
              <a:ext cx="9359544" cy="3892050"/>
              <a:chOff x="0" y="0"/>
              <a:chExt cx="1329874" cy="553012"/>
            </a:xfrm>
          </p:grpSpPr>
          <p:sp>
            <p:nvSpPr>
              <p:cNvPr id="50" name="Freeform 50"/>
              <p:cNvSpPr/>
              <p:nvPr/>
            </p:nvSpPr>
            <p:spPr>
              <a:xfrm>
                <a:off x="0" y="0"/>
                <a:ext cx="1329874" cy="553012"/>
              </a:xfrm>
              <a:custGeom>
                <a:avLst/>
                <a:gdLst/>
                <a:ahLst/>
                <a:cxnLst/>
                <a:rect l="l" t="t" r="r" b="b"/>
                <a:pathLst>
                  <a:path w="1329874" h="553012">
                    <a:moveTo>
                      <a:pt x="22667" y="0"/>
                    </a:moveTo>
                    <a:lnTo>
                      <a:pt x="1307207" y="0"/>
                    </a:lnTo>
                    <a:cubicBezTo>
                      <a:pt x="1313219" y="0"/>
                      <a:pt x="1318984" y="2388"/>
                      <a:pt x="1323235" y="6639"/>
                    </a:cubicBezTo>
                    <a:cubicBezTo>
                      <a:pt x="1327486" y="10890"/>
                      <a:pt x="1329874" y="16655"/>
                      <a:pt x="1329874" y="22667"/>
                    </a:cubicBezTo>
                    <a:lnTo>
                      <a:pt x="1329874" y="530345"/>
                    </a:lnTo>
                    <a:cubicBezTo>
                      <a:pt x="1329874" y="542863"/>
                      <a:pt x="1319726" y="553012"/>
                      <a:pt x="1307207" y="553012"/>
                    </a:cubicBezTo>
                    <a:lnTo>
                      <a:pt x="22667" y="553012"/>
                    </a:lnTo>
                    <a:cubicBezTo>
                      <a:pt x="10148" y="553012"/>
                      <a:pt x="0" y="542863"/>
                      <a:pt x="0" y="530345"/>
                    </a:cubicBezTo>
                    <a:lnTo>
                      <a:pt x="0" y="22667"/>
                    </a:lnTo>
                    <a:cubicBezTo>
                      <a:pt x="0" y="10148"/>
                      <a:pt x="10148" y="0"/>
                      <a:pt x="22667" y="0"/>
                    </a:cubicBezTo>
                    <a:close/>
                  </a:path>
                </a:pathLst>
              </a:custGeom>
              <a:solidFill>
                <a:srgbClr val="FFFFFF"/>
              </a:solidFill>
            </p:spPr>
          </p:sp>
          <p:sp>
            <p:nvSpPr>
              <p:cNvPr id="51" name="TextBox 51"/>
              <p:cNvSpPr txBox="1"/>
              <p:nvPr/>
            </p:nvSpPr>
            <p:spPr>
              <a:xfrm>
                <a:off x="0" y="-38100"/>
                <a:ext cx="1329874" cy="591112"/>
              </a:xfrm>
              <a:prstGeom prst="rect">
                <a:avLst/>
              </a:prstGeom>
            </p:spPr>
            <p:txBody>
              <a:bodyPr lIns="82469" tIns="82469" rIns="82469" bIns="82469" rtlCol="0" anchor="ctr"/>
              <a:lstStyle/>
              <a:p>
                <a:pPr algn="ctr">
                  <a:lnSpc>
                    <a:spcPts val="2659"/>
                  </a:lnSpc>
                </a:pPr>
                <a:endParaRPr/>
              </a:p>
            </p:txBody>
          </p:sp>
        </p:grpSp>
        <p:sp>
          <p:nvSpPr>
            <p:cNvPr id="52" name="TextBox 52"/>
            <p:cNvSpPr txBox="1"/>
            <p:nvPr/>
          </p:nvSpPr>
          <p:spPr>
            <a:xfrm>
              <a:off x="4287072" y="286577"/>
              <a:ext cx="4669884" cy="3385543"/>
            </a:xfrm>
            <a:prstGeom prst="rect">
              <a:avLst/>
            </a:prstGeom>
          </p:spPr>
          <p:txBody>
            <a:bodyPr lIns="0" tIns="0" rIns="0" bIns="0" rtlCol="0" anchor="t">
              <a:spAutoFit/>
            </a:bodyPr>
            <a:lstStyle/>
            <a:p>
              <a:pPr algn="ctr">
                <a:lnSpc>
                  <a:spcPts val="3336"/>
                </a:lnSpc>
              </a:pPr>
              <a:r>
                <a:rPr lang="en-US" sz="3336" dirty="0">
                  <a:solidFill>
                    <a:srgbClr val="01654F"/>
                  </a:solidFill>
                  <a:latin typeface="Times New Roman"/>
                  <a:ea typeface="Times New Roman"/>
                  <a:cs typeface="Times New Roman"/>
                  <a:sym typeface="Times New Roman"/>
                </a:rPr>
                <a:t>Rewards for recycling, conversion of waste to income (</a:t>
              </a:r>
              <a:r>
                <a:rPr lang="en-US" sz="3336" dirty="0" err="1">
                  <a:solidFill>
                    <a:srgbClr val="01654F"/>
                  </a:solidFill>
                  <a:latin typeface="Times New Roman"/>
                  <a:ea typeface="Times New Roman"/>
                  <a:cs typeface="Times New Roman"/>
                  <a:sym typeface="Times New Roman"/>
                </a:rPr>
                <a:t>Ferronato</a:t>
              </a:r>
              <a:r>
                <a:rPr lang="en-US" sz="3336" dirty="0">
                  <a:solidFill>
                    <a:srgbClr val="01654F"/>
                  </a:solidFill>
                  <a:latin typeface="Times New Roman"/>
                  <a:ea typeface="Times New Roman"/>
                  <a:cs typeface="Times New Roman"/>
                  <a:sym typeface="Times New Roman"/>
                </a:rPr>
                <a:t> and </a:t>
              </a:r>
              <a:r>
                <a:rPr lang="en-US" sz="3336" dirty="0" err="1">
                  <a:solidFill>
                    <a:srgbClr val="01654F"/>
                  </a:solidFill>
                  <a:latin typeface="Times New Roman"/>
                  <a:ea typeface="Times New Roman"/>
                  <a:cs typeface="Times New Roman"/>
                  <a:sym typeface="Times New Roman"/>
                </a:rPr>
                <a:t>Torretta</a:t>
              </a:r>
              <a:r>
                <a:rPr lang="en-US" sz="3336" dirty="0">
                  <a:solidFill>
                    <a:srgbClr val="01654F"/>
                  </a:solidFill>
                  <a:latin typeface="Times New Roman"/>
                  <a:ea typeface="Times New Roman"/>
                  <a:cs typeface="Times New Roman"/>
                  <a:sym typeface="Times New Roman"/>
                </a:rPr>
                <a:t>, 2022)</a:t>
              </a:r>
            </a:p>
          </p:txBody>
        </p:sp>
      </p:grpSp>
      <p:sp>
        <p:nvSpPr>
          <p:cNvPr id="53" name="Freeform 53"/>
          <p:cNvSpPr/>
          <p:nvPr/>
        </p:nvSpPr>
        <p:spPr>
          <a:xfrm>
            <a:off x="2242469" y="7287371"/>
            <a:ext cx="1490170" cy="1305930"/>
          </a:xfrm>
          <a:custGeom>
            <a:avLst/>
            <a:gdLst/>
            <a:ahLst/>
            <a:cxnLst/>
            <a:rect l="l" t="t" r="r" b="b"/>
            <a:pathLst>
              <a:path w="1490170" h="1305930">
                <a:moveTo>
                  <a:pt x="0" y="0"/>
                </a:moveTo>
                <a:lnTo>
                  <a:pt x="1490170" y="0"/>
                </a:lnTo>
                <a:lnTo>
                  <a:pt x="1490170" y="1305930"/>
                </a:lnTo>
                <a:lnTo>
                  <a:pt x="0" y="1305930"/>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54" name="Freeform 54"/>
          <p:cNvSpPr/>
          <p:nvPr/>
        </p:nvSpPr>
        <p:spPr>
          <a:xfrm>
            <a:off x="789375" y="6228221"/>
            <a:ext cx="1696961" cy="2151456"/>
          </a:xfrm>
          <a:custGeom>
            <a:avLst/>
            <a:gdLst/>
            <a:ahLst/>
            <a:cxnLst/>
            <a:rect l="l" t="t" r="r" b="b"/>
            <a:pathLst>
              <a:path w="1696961" h="2151456">
                <a:moveTo>
                  <a:pt x="0" y="0"/>
                </a:moveTo>
                <a:lnTo>
                  <a:pt x="1696962" y="0"/>
                </a:lnTo>
                <a:lnTo>
                  <a:pt x="1696962" y="2151456"/>
                </a:lnTo>
                <a:lnTo>
                  <a:pt x="0" y="2151456"/>
                </a:lnTo>
                <a:lnTo>
                  <a:pt x="0" y="0"/>
                </a:lnTo>
                <a:close/>
              </a:path>
            </a:pathLst>
          </a:custGeom>
          <a:blipFill>
            <a:blip r:embed="rId29"/>
            <a:stretch>
              <a:fillRect/>
            </a:stretch>
          </a:blipFill>
        </p:spPr>
      </p:sp>
      <p:grpSp>
        <p:nvGrpSpPr>
          <p:cNvPr id="55" name="Group 55"/>
          <p:cNvGrpSpPr/>
          <p:nvPr/>
        </p:nvGrpSpPr>
        <p:grpSpPr>
          <a:xfrm>
            <a:off x="745339" y="310344"/>
            <a:ext cx="4670373" cy="958315"/>
            <a:chOff x="0" y="0"/>
            <a:chExt cx="6227165" cy="1277753"/>
          </a:xfrm>
        </p:grpSpPr>
        <p:sp>
          <p:nvSpPr>
            <p:cNvPr id="56" name="TextBox 56"/>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57" name="Freeform 57"/>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30"/>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7745091" y="7757982"/>
            <a:ext cx="2458545" cy="1913195"/>
          </a:xfrm>
          <a:custGeom>
            <a:avLst/>
            <a:gdLst/>
            <a:ahLst/>
            <a:cxnLst/>
            <a:rect l="l" t="t" r="r" b="b"/>
            <a:pathLst>
              <a:path w="2458545" h="1913195">
                <a:moveTo>
                  <a:pt x="2458545" y="0"/>
                </a:moveTo>
                <a:lnTo>
                  <a:pt x="0" y="0"/>
                </a:lnTo>
                <a:lnTo>
                  <a:pt x="0" y="1913195"/>
                </a:lnTo>
                <a:lnTo>
                  <a:pt x="2458545" y="1913195"/>
                </a:lnTo>
                <a:lnTo>
                  <a:pt x="2458545"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249984" y="7966007"/>
            <a:ext cx="1681579" cy="1308574"/>
          </a:xfrm>
          <a:custGeom>
            <a:avLst/>
            <a:gdLst/>
            <a:ahLst/>
            <a:cxnLst/>
            <a:rect l="l" t="t" r="r" b="b"/>
            <a:pathLst>
              <a:path w="1681579" h="1308574">
                <a:moveTo>
                  <a:pt x="0" y="0"/>
                </a:moveTo>
                <a:lnTo>
                  <a:pt x="1681579" y="0"/>
                </a:lnTo>
                <a:lnTo>
                  <a:pt x="1681579" y="1308574"/>
                </a:lnTo>
                <a:lnTo>
                  <a:pt x="0" y="13085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24865" y="8938108"/>
            <a:ext cx="12137839" cy="4030389"/>
            <a:chOff x="0" y="0"/>
            <a:chExt cx="4240198" cy="1407965"/>
          </a:xfrm>
        </p:grpSpPr>
        <p:sp>
          <p:nvSpPr>
            <p:cNvPr id="5" name="Freeform 5"/>
            <p:cNvSpPr/>
            <p:nvPr/>
          </p:nvSpPr>
          <p:spPr>
            <a:xfrm>
              <a:off x="0" y="0"/>
              <a:ext cx="4240198" cy="1407965"/>
            </a:xfrm>
            <a:custGeom>
              <a:avLst/>
              <a:gdLst/>
              <a:ahLst/>
              <a:cxnLst/>
              <a:rect l="l" t="t" r="r" b="b"/>
              <a:pathLst>
                <a:path w="4240198" h="1407965">
                  <a:moveTo>
                    <a:pt x="2120099" y="0"/>
                  </a:moveTo>
                  <a:cubicBezTo>
                    <a:pt x="949201" y="0"/>
                    <a:pt x="0" y="315184"/>
                    <a:pt x="0" y="703982"/>
                  </a:cubicBezTo>
                  <a:cubicBezTo>
                    <a:pt x="0" y="1092781"/>
                    <a:pt x="949201" y="1407965"/>
                    <a:pt x="2120099" y="1407965"/>
                  </a:cubicBezTo>
                  <a:cubicBezTo>
                    <a:pt x="3290998" y="1407965"/>
                    <a:pt x="4240198" y="1092781"/>
                    <a:pt x="4240198" y="703982"/>
                  </a:cubicBezTo>
                  <a:cubicBezTo>
                    <a:pt x="4240198" y="315184"/>
                    <a:pt x="3290998" y="0"/>
                    <a:pt x="2120099" y="0"/>
                  </a:cubicBezTo>
                  <a:close/>
                </a:path>
              </a:pathLst>
            </a:custGeom>
            <a:gradFill rotWithShape="1">
              <a:gsLst>
                <a:gs pos="0">
                  <a:srgbClr val="98C850">
                    <a:alpha val="100000"/>
                  </a:srgbClr>
                </a:gs>
                <a:gs pos="100000">
                  <a:srgbClr val="84B83D">
                    <a:alpha val="100000"/>
                  </a:srgbClr>
                </a:gs>
              </a:gsLst>
              <a:lin ang="5400000"/>
            </a:gradFill>
          </p:spPr>
        </p:sp>
        <p:sp>
          <p:nvSpPr>
            <p:cNvPr id="6" name="TextBox 6"/>
            <p:cNvSpPr txBox="1"/>
            <p:nvPr/>
          </p:nvSpPr>
          <p:spPr>
            <a:xfrm>
              <a:off x="397519" y="93897"/>
              <a:ext cx="3445161" cy="1182071"/>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6238804" y="8316285"/>
            <a:ext cx="16099503" cy="9907199"/>
            <a:chOff x="0" y="0"/>
            <a:chExt cx="4240198" cy="2609303"/>
          </a:xfrm>
        </p:grpSpPr>
        <p:sp>
          <p:nvSpPr>
            <p:cNvPr id="8" name="Freeform 8"/>
            <p:cNvSpPr/>
            <p:nvPr/>
          </p:nvSpPr>
          <p:spPr>
            <a:xfrm>
              <a:off x="0" y="0"/>
              <a:ext cx="4240198" cy="2609304"/>
            </a:xfrm>
            <a:custGeom>
              <a:avLst/>
              <a:gdLst/>
              <a:ahLst/>
              <a:cxnLst/>
              <a:rect l="l" t="t" r="r" b="b"/>
              <a:pathLst>
                <a:path w="4240198" h="2609304">
                  <a:moveTo>
                    <a:pt x="2120099" y="0"/>
                  </a:moveTo>
                  <a:cubicBezTo>
                    <a:pt x="949201" y="0"/>
                    <a:pt x="0" y="584112"/>
                    <a:pt x="0" y="1304652"/>
                  </a:cubicBezTo>
                  <a:cubicBezTo>
                    <a:pt x="0" y="2025191"/>
                    <a:pt x="949201" y="2609304"/>
                    <a:pt x="2120099" y="2609304"/>
                  </a:cubicBezTo>
                  <a:cubicBezTo>
                    <a:pt x="3290998" y="2609304"/>
                    <a:pt x="4240198" y="2025191"/>
                    <a:pt x="4240198" y="1304652"/>
                  </a:cubicBezTo>
                  <a:cubicBezTo>
                    <a:pt x="4240198" y="584112"/>
                    <a:pt x="3290998" y="0"/>
                    <a:pt x="2120099" y="0"/>
                  </a:cubicBezTo>
                  <a:close/>
                </a:path>
              </a:pathLst>
            </a:custGeom>
            <a:gradFill rotWithShape="1">
              <a:gsLst>
                <a:gs pos="0">
                  <a:srgbClr val="23AC3A">
                    <a:alpha val="100000"/>
                  </a:srgbClr>
                </a:gs>
                <a:gs pos="100000">
                  <a:srgbClr val="81CC7D">
                    <a:alpha val="100000"/>
                  </a:srgbClr>
                </a:gs>
              </a:gsLst>
              <a:lin ang="5400000"/>
            </a:gradFill>
          </p:spPr>
        </p:sp>
        <p:sp>
          <p:nvSpPr>
            <p:cNvPr id="9" name="TextBox 9"/>
            <p:cNvSpPr txBox="1"/>
            <p:nvPr/>
          </p:nvSpPr>
          <p:spPr>
            <a:xfrm>
              <a:off x="397519" y="206522"/>
              <a:ext cx="3445161" cy="215815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1585134" y="6491980"/>
            <a:ext cx="911138" cy="911138"/>
          </a:xfrm>
          <a:custGeom>
            <a:avLst/>
            <a:gdLst/>
            <a:ahLst/>
            <a:cxnLst/>
            <a:rect l="l" t="t" r="r" b="b"/>
            <a:pathLst>
              <a:path w="911138" h="911138">
                <a:moveTo>
                  <a:pt x="0" y="0"/>
                </a:moveTo>
                <a:lnTo>
                  <a:pt x="911138" y="0"/>
                </a:lnTo>
                <a:lnTo>
                  <a:pt x="911138" y="911138"/>
                </a:lnTo>
                <a:lnTo>
                  <a:pt x="0" y="91113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6261651" y="4417726"/>
            <a:ext cx="2821744" cy="4990223"/>
          </a:xfrm>
          <a:custGeom>
            <a:avLst/>
            <a:gdLst/>
            <a:ahLst/>
            <a:cxnLst/>
            <a:rect l="l" t="t" r="r" b="b"/>
            <a:pathLst>
              <a:path w="2821744" h="4990223">
                <a:moveTo>
                  <a:pt x="0" y="0"/>
                </a:moveTo>
                <a:lnTo>
                  <a:pt x="2821744" y="0"/>
                </a:lnTo>
                <a:lnTo>
                  <a:pt x="2821744" y="4990223"/>
                </a:lnTo>
                <a:lnTo>
                  <a:pt x="0" y="49902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9714668" y="9054330"/>
            <a:ext cx="6546982" cy="1476047"/>
          </a:xfrm>
          <a:custGeom>
            <a:avLst/>
            <a:gdLst/>
            <a:ahLst/>
            <a:cxnLst/>
            <a:rect l="l" t="t" r="r" b="b"/>
            <a:pathLst>
              <a:path w="6546982" h="1476047">
                <a:moveTo>
                  <a:pt x="0" y="0"/>
                </a:moveTo>
                <a:lnTo>
                  <a:pt x="6546983" y="0"/>
                </a:lnTo>
                <a:lnTo>
                  <a:pt x="6546983" y="1476047"/>
                </a:lnTo>
                <a:lnTo>
                  <a:pt x="0" y="14760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a:off x="4008739" y="6662461"/>
            <a:ext cx="4134560" cy="3307648"/>
          </a:xfrm>
          <a:custGeom>
            <a:avLst/>
            <a:gdLst/>
            <a:ahLst/>
            <a:cxnLst/>
            <a:rect l="l" t="t" r="r" b="b"/>
            <a:pathLst>
              <a:path w="4134560" h="3307648">
                <a:moveTo>
                  <a:pt x="0" y="0"/>
                </a:moveTo>
                <a:lnTo>
                  <a:pt x="4134561" y="0"/>
                </a:lnTo>
                <a:lnTo>
                  <a:pt x="4134561" y="3307648"/>
                </a:lnTo>
                <a:lnTo>
                  <a:pt x="0" y="330764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4" name="TextBox 14"/>
          <p:cNvSpPr txBox="1"/>
          <p:nvPr/>
        </p:nvSpPr>
        <p:spPr>
          <a:xfrm>
            <a:off x="1028700" y="1202264"/>
            <a:ext cx="6464663" cy="780415"/>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Product and Services</a:t>
            </a:r>
          </a:p>
        </p:txBody>
      </p:sp>
      <p:sp>
        <p:nvSpPr>
          <p:cNvPr id="15" name="Freeform 15"/>
          <p:cNvSpPr/>
          <p:nvPr/>
        </p:nvSpPr>
        <p:spPr>
          <a:xfrm>
            <a:off x="7974994" y="691614"/>
            <a:ext cx="4065709" cy="1182752"/>
          </a:xfrm>
          <a:custGeom>
            <a:avLst/>
            <a:gdLst/>
            <a:ahLst/>
            <a:cxnLst/>
            <a:rect l="l" t="t" r="r" b="b"/>
            <a:pathLst>
              <a:path w="4065709" h="1182752">
                <a:moveTo>
                  <a:pt x="0" y="0"/>
                </a:moveTo>
                <a:lnTo>
                  <a:pt x="4065709" y="0"/>
                </a:lnTo>
                <a:lnTo>
                  <a:pt x="4065709" y="1182752"/>
                </a:lnTo>
                <a:lnTo>
                  <a:pt x="0" y="118275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6" name="Freeform 16"/>
          <p:cNvSpPr/>
          <p:nvPr/>
        </p:nvSpPr>
        <p:spPr>
          <a:xfrm>
            <a:off x="16419360" y="2313478"/>
            <a:ext cx="4065709" cy="1182752"/>
          </a:xfrm>
          <a:custGeom>
            <a:avLst/>
            <a:gdLst/>
            <a:ahLst/>
            <a:cxnLst/>
            <a:rect l="l" t="t" r="r" b="b"/>
            <a:pathLst>
              <a:path w="4065709" h="1182752">
                <a:moveTo>
                  <a:pt x="0" y="0"/>
                </a:moveTo>
                <a:lnTo>
                  <a:pt x="4065710" y="0"/>
                </a:lnTo>
                <a:lnTo>
                  <a:pt x="4065710" y="1182752"/>
                </a:lnTo>
                <a:lnTo>
                  <a:pt x="0" y="118275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7" name="Freeform 17"/>
          <p:cNvSpPr/>
          <p:nvPr/>
        </p:nvSpPr>
        <p:spPr>
          <a:xfrm>
            <a:off x="-2474560" y="3267644"/>
            <a:ext cx="4065709" cy="1182752"/>
          </a:xfrm>
          <a:custGeom>
            <a:avLst/>
            <a:gdLst/>
            <a:ahLst/>
            <a:cxnLst/>
            <a:rect l="l" t="t" r="r" b="b"/>
            <a:pathLst>
              <a:path w="4065709" h="1182752">
                <a:moveTo>
                  <a:pt x="0" y="0"/>
                </a:moveTo>
                <a:lnTo>
                  <a:pt x="4065709" y="0"/>
                </a:lnTo>
                <a:lnTo>
                  <a:pt x="4065709" y="1182751"/>
                </a:lnTo>
                <a:lnTo>
                  <a:pt x="0" y="118275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8" name="Freeform 18"/>
          <p:cNvSpPr/>
          <p:nvPr/>
        </p:nvSpPr>
        <p:spPr>
          <a:xfrm>
            <a:off x="13565930" y="52044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9" name="Freeform 19"/>
          <p:cNvSpPr/>
          <p:nvPr/>
        </p:nvSpPr>
        <p:spPr>
          <a:xfrm>
            <a:off x="464670" y="4253767"/>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0" name="Freeform 20"/>
          <p:cNvSpPr/>
          <p:nvPr/>
        </p:nvSpPr>
        <p:spPr>
          <a:xfrm>
            <a:off x="10911559" y="4276796"/>
            <a:ext cx="235742" cy="232742"/>
          </a:xfrm>
          <a:custGeom>
            <a:avLst/>
            <a:gdLst/>
            <a:ahLst/>
            <a:cxnLst/>
            <a:rect l="l" t="t" r="r" b="b"/>
            <a:pathLst>
              <a:path w="235742" h="232742">
                <a:moveTo>
                  <a:pt x="0" y="0"/>
                </a:moveTo>
                <a:lnTo>
                  <a:pt x="235742" y="0"/>
                </a:lnTo>
                <a:lnTo>
                  <a:pt x="235742" y="232742"/>
                </a:lnTo>
                <a:lnTo>
                  <a:pt x="0" y="23274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1" name="Freeform 21"/>
          <p:cNvSpPr/>
          <p:nvPr/>
        </p:nvSpPr>
        <p:spPr>
          <a:xfrm>
            <a:off x="15129772" y="-1118606"/>
            <a:ext cx="2542750" cy="2584359"/>
          </a:xfrm>
          <a:custGeom>
            <a:avLst/>
            <a:gdLst/>
            <a:ahLst/>
            <a:cxnLst/>
            <a:rect l="l" t="t" r="r" b="b"/>
            <a:pathLst>
              <a:path w="2542750" h="2584359">
                <a:moveTo>
                  <a:pt x="0" y="0"/>
                </a:moveTo>
                <a:lnTo>
                  <a:pt x="2542751" y="0"/>
                </a:lnTo>
                <a:lnTo>
                  <a:pt x="2542751" y="2584359"/>
                </a:lnTo>
                <a:lnTo>
                  <a:pt x="0" y="258435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22" name="Group 22"/>
          <p:cNvGrpSpPr/>
          <p:nvPr/>
        </p:nvGrpSpPr>
        <p:grpSpPr>
          <a:xfrm>
            <a:off x="378945" y="2279342"/>
            <a:ext cx="13394851" cy="1475207"/>
            <a:chOff x="0" y="0"/>
            <a:chExt cx="17859801" cy="1966942"/>
          </a:xfrm>
        </p:grpSpPr>
        <p:grpSp>
          <p:nvGrpSpPr>
            <p:cNvPr id="23" name="Group 23"/>
            <p:cNvGrpSpPr/>
            <p:nvPr/>
          </p:nvGrpSpPr>
          <p:grpSpPr>
            <a:xfrm>
              <a:off x="682549" y="0"/>
              <a:ext cx="17177252" cy="1966942"/>
              <a:chOff x="0" y="0"/>
              <a:chExt cx="9355802" cy="1071319"/>
            </a:xfrm>
          </p:grpSpPr>
          <p:sp>
            <p:nvSpPr>
              <p:cNvPr id="24" name="Freeform 24"/>
              <p:cNvSpPr/>
              <p:nvPr/>
            </p:nvSpPr>
            <p:spPr>
              <a:xfrm>
                <a:off x="0" y="0"/>
                <a:ext cx="9355802" cy="1071319"/>
              </a:xfrm>
              <a:custGeom>
                <a:avLst/>
                <a:gdLst/>
                <a:ahLst/>
                <a:cxnLst/>
                <a:rect l="l" t="t" r="r" b="b"/>
                <a:pathLst>
                  <a:path w="9355802" h="1071319">
                    <a:moveTo>
                      <a:pt x="0" y="892766"/>
                    </a:moveTo>
                    <a:lnTo>
                      <a:pt x="0" y="178553"/>
                    </a:lnTo>
                    <a:cubicBezTo>
                      <a:pt x="0" y="79992"/>
                      <a:pt x="419140" y="0"/>
                      <a:pt x="935580" y="0"/>
                    </a:cubicBezTo>
                    <a:lnTo>
                      <a:pt x="8420222" y="0"/>
                    </a:lnTo>
                    <a:cubicBezTo>
                      <a:pt x="8936662" y="0"/>
                      <a:pt x="9355802" y="79992"/>
                      <a:pt x="9355802" y="178553"/>
                    </a:cubicBezTo>
                    <a:lnTo>
                      <a:pt x="9355802" y="892766"/>
                    </a:lnTo>
                    <a:cubicBezTo>
                      <a:pt x="9355802" y="991327"/>
                      <a:pt x="8936662" y="1071319"/>
                      <a:pt x="8420222" y="1071319"/>
                    </a:cubicBezTo>
                    <a:lnTo>
                      <a:pt x="935580" y="1071319"/>
                    </a:lnTo>
                    <a:cubicBezTo>
                      <a:pt x="419140" y="1071319"/>
                      <a:pt x="0" y="991327"/>
                      <a:pt x="0" y="892766"/>
                    </a:cubicBezTo>
                    <a:close/>
                  </a:path>
                </a:pathLst>
              </a:custGeom>
              <a:solidFill>
                <a:srgbClr val="FFFFFF"/>
              </a:solidFill>
            </p:spPr>
          </p:sp>
        </p:grpSp>
        <p:sp>
          <p:nvSpPr>
            <p:cNvPr id="25" name="Freeform 25"/>
            <p:cNvSpPr/>
            <p:nvPr/>
          </p:nvSpPr>
          <p:spPr>
            <a:xfrm>
              <a:off x="0" y="242274"/>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6" name="TextBox 26"/>
            <p:cNvSpPr txBox="1"/>
            <p:nvPr/>
          </p:nvSpPr>
          <p:spPr>
            <a:xfrm>
              <a:off x="1616272" y="431251"/>
              <a:ext cx="12240134"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A mobile app for real-time waste collection requests and tracking</a:t>
              </a:r>
            </a:p>
          </p:txBody>
        </p:sp>
      </p:grpSp>
      <p:sp>
        <p:nvSpPr>
          <p:cNvPr id="27" name="Freeform 27"/>
          <p:cNvSpPr/>
          <p:nvPr/>
        </p:nvSpPr>
        <p:spPr>
          <a:xfrm>
            <a:off x="12002603" y="2279342"/>
            <a:ext cx="1600090" cy="1514086"/>
          </a:xfrm>
          <a:custGeom>
            <a:avLst/>
            <a:gdLst/>
            <a:ahLst/>
            <a:cxnLst/>
            <a:rect l="l" t="t" r="r" b="b"/>
            <a:pathLst>
              <a:path w="1600090" h="1514086">
                <a:moveTo>
                  <a:pt x="0" y="0"/>
                </a:moveTo>
                <a:lnTo>
                  <a:pt x="1600091" y="0"/>
                </a:lnTo>
                <a:lnTo>
                  <a:pt x="1600091" y="1514085"/>
                </a:lnTo>
                <a:lnTo>
                  <a:pt x="0" y="1514085"/>
                </a:lnTo>
                <a:lnTo>
                  <a:pt x="0" y="0"/>
                </a:lnTo>
                <a:close/>
              </a:path>
            </a:pathLst>
          </a:custGeom>
          <a:blipFill>
            <a:blip r:embed="rId19"/>
            <a:stretch>
              <a:fillRect/>
            </a:stretch>
          </a:blipFill>
        </p:spPr>
      </p:sp>
      <p:grpSp>
        <p:nvGrpSpPr>
          <p:cNvPr id="28" name="Group 28"/>
          <p:cNvGrpSpPr/>
          <p:nvPr/>
        </p:nvGrpSpPr>
        <p:grpSpPr>
          <a:xfrm>
            <a:off x="324207" y="3879152"/>
            <a:ext cx="13413172" cy="1475207"/>
            <a:chOff x="0" y="0"/>
            <a:chExt cx="17884229" cy="1966942"/>
          </a:xfrm>
        </p:grpSpPr>
        <p:grpSp>
          <p:nvGrpSpPr>
            <p:cNvPr id="29" name="Group 29"/>
            <p:cNvGrpSpPr/>
            <p:nvPr/>
          </p:nvGrpSpPr>
          <p:grpSpPr>
            <a:xfrm>
              <a:off x="728497" y="0"/>
              <a:ext cx="17155732" cy="1966942"/>
              <a:chOff x="0" y="0"/>
              <a:chExt cx="9344081" cy="1071319"/>
            </a:xfrm>
          </p:grpSpPr>
          <p:sp>
            <p:nvSpPr>
              <p:cNvPr id="30" name="Freeform 30"/>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31" name="Freeform 31"/>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2" name="TextBox 32"/>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Scheduled waste collection service, fixed weekly pick-up times</a:t>
              </a:r>
            </a:p>
          </p:txBody>
        </p:sp>
      </p:grpSp>
      <p:sp>
        <p:nvSpPr>
          <p:cNvPr id="33" name="Freeform 33"/>
          <p:cNvSpPr/>
          <p:nvPr/>
        </p:nvSpPr>
        <p:spPr>
          <a:xfrm>
            <a:off x="11807709" y="3913684"/>
            <a:ext cx="1655467" cy="1326745"/>
          </a:xfrm>
          <a:custGeom>
            <a:avLst/>
            <a:gdLst/>
            <a:ahLst/>
            <a:cxnLst/>
            <a:rect l="l" t="t" r="r" b="b"/>
            <a:pathLst>
              <a:path w="1655467" h="1326745">
                <a:moveTo>
                  <a:pt x="0" y="0"/>
                </a:moveTo>
                <a:lnTo>
                  <a:pt x="1655467" y="0"/>
                </a:lnTo>
                <a:lnTo>
                  <a:pt x="1655467" y="1326744"/>
                </a:lnTo>
                <a:lnTo>
                  <a:pt x="0" y="132674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34" name="Group 34"/>
          <p:cNvGrpSpPr/>
          <p:nvPr/>
        </p:nvGrpSpPr>
        <p:grpSpPr>
          <a:xfrm>
            <a:off x="324207" y="5478184"/>
            <a:ext cx="13413172" cy="1475207"/>
            <a:chOff x="0" y="0"/>
            <a:chExt cx="17884229" cy="1966942"/>
          </a:xfrm>
        </p:grpSpPr>
        <p:grpSp>
          <p:nvGrpSpPr>
            <p:cNvPr id="35" name="Group 35"/>
            <p:cNvGrpSpPr/>
            <p:nvPr/>
          </p:nvGrpSpPr>
          <p:grpSpPr>
            <a:xfrm>
              <a:off x="728497" y="0"/>
              <a:ext cx="17155732" cy="1966942"/>
              <a:chOff x="0" y="0"/>
              <a:chExt cx="9344081" cy="1071319"/>
            </a:xfrm>
          </p:grpSpPr>
          <p:sp>
            <p:nvSpPr>
              <p:cNvPr id="36" name="Freeform 36"/>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37" name="Freeform 37"/>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8" name="TextBox 38"/>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Instant Naira payment to user wallets, based on weight inside the app.</a:t>
              </a:r>
            </a:p>
          </p:txBody>
        </p:sp>
      </p:grpSp>
      <p:sp>
        <p:nvSpPr>
          <p:cNvPr id="39" name="Freeform 39"/>
          <p:cNvSpPr/>
          <p:nvPr/>
        </p:nvSpPr>
        <p:spPr>
          <a:xfrm>
            <a:off x="12687921" y="5560937"/>
            <a:ext cx="775255" cy="1233500"/>
          </a:xfrm>
          <a:custGeom>
            <a:avLst/>
            <a:gdLst/>
            <a:ahLst/>
            <a:cxnLst/>
            <a:rect l="l" t="t" r="r" b="b"/>
            <a:pathLst>
              <a:path w="775255" h="1233500">
                <a:moveTo>
                  <a:pt x="0" y="0"/>
                </a:moveTo>
                <a:lnTo>
                  <a:pt x="775255" y="0"/>
                </a:lnTo>
                <a:lnTo>
                  <a:pt x="775255" y="1233500"/>
                </a:lnTo>
                <a:lnTo>
                  <a:pt x="0" y="1233500"/>
                </a:lnTo>
                <a:lnTo>
                  <a:pt x="0" y="0"/>
                </a:lnTo>
                <a:close/>
              </a:path>
            </a:pathLst>
          </a:custGeom>
          <a:blipFill>
            <a:blip r:embed="rId22"/>
            <a:stretch>
              <a:fillRect t="-10616" r="-224061" b="-25165"/>
            </a:stretch>
          </a:blipFill>
        </p:spPr>
      </p:sp>
      <p:sp>
        <p:nvSpPr>
          <p:cNvPr id="40" name="Freeform 40"/>
          <p:cNvSpPr/>
          <p:nvPr/>
        </p:nvSpPr>
        <p:spPr>
          <a:xfrm>
            <a:off x="12398463" y="6244432"/>
            <a:ext cx="589696" cy="601731"/>
          </a:xfrm>
          <a:custGeom>
            <a:avLst/>
            <a:gdLst/>
            <a:ahLst/>
            <a:cxnLst/>
            <a:rect l="l" t="t" r="r" b="b"/>
            <a:pathLst>
              <a:path w="589696" h="601731">
                <a:moveTo>
                  <a:pt x="0" y="0"/>
                </a:moveTo>
                <a:lnTo>
                  <a:pt x="589696" y="0"/>
                </a:lnTo>
                <a:lnTo>
                  <a:pt x="589696" y="601731"/>
                </a:lnTo>
                <a:lnTo>
                  <a:pt x="0" y="601731"/>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grpSp>
        <p:nvGrpSpPr>
          <p:cNvPr id="41" name="Group 41"/>
          <p:cNvGrpSpPr/>
          <p:nvPr/>
        </p:nvGrpSpPr>
        <p:grpSpPr>
          <a:xfrm>
            <a:off x="369785" y="7058166"/>
            <a:ext cx="13413172" cy="1475207"/>
            <a:chOff x="0" y="0"/>
            <a:chExt cx="17884229" cy="1966942"/>
          </a:xfrm>
        </p:grpSpPr>
        <p:grpSp>
          <p:nvGrpSpPr>
            <p:cNvPr id="42" name="Group 42"/>
            <p:cNvGrpSpPr/>
            <p:nvPr/>
          </p:nvGrpSpPr>
          <p:grpSpPr>
            <a:xfrm>
              <a:off x="728497" y="0"/>
              <a:ext cx="17155732" cy="1966942"/>
              <a:chOff x="0" y="0"/>
              <a:chExt cx="9344081" cy="1071319"/>
            </a:xfrm>
          </p:grpSpPr>
          <p:sp>
            <p:nvSpPr>
              <p:cNvPr id="43" name="Freeform 43"/>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44" name="Freeform 44"/>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5" name="TextBox 45"/>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Mobile airtime rewards are earned via mobile loyalty points which have a cumulative value.</a:t>
              </a:r>
            </a:p>
          </p:txBody>
        </p:sp>
      </p:grpSp>
      <p:sp>
        <p:nvSpPr>
          <p:cNvPr id="46" name="Freeform 46"/>
          <p:cNvSpPr/>
          <p:nvPr/>
        </p:nvSpPr>
        <p:spPr>
          <a:xfrm>
            <a:off x="12185899" y="7211558"/>
            <a:ext cx="1076163" cy="1168421"/>
          </a:xfrm>
          <a:custGeom>
            <a:avLst/>
            <a:gdLst/>
            <a:ahLst/>
            <a:cxnLst/>
            <a:rect l="l" t="t" r="r" b="b"/>
            <a:pathLst>
              <a:path w="1076163" h="1168421">
                <a:moveTo>
                  <a:pt x="0" y="0"/>
                </a:moveTo>
                <a:lnTo>
                  <a:pt x="1076163" y="0"/>
                </a:lnTo>
                <a:lnTo>
                  <a:pt x="1076163" y="1168422"/>
                </a:lnTo>
                <a:lnTo>
                  <a:pt x="0" y="1168422"/>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grpSp>
        <p:nvGrpSpPr>
          <p:cNvPr id="47" name="Group 47"/>
          <p:cNvGrpSpPr/>
          <p:nvPr/>
        </p:nvGrpSpPr>
        <p:grpSpPr>
          <a:xfrm>
            <a:off x="464670" y="8657197"/>
            <a:ext cx="13413172" cy="1475207"/>
            <a:chOff x="0" y="0"/>
            <a:chExt cx="17884229" cy="1966942"/>
          </a:xfrm>
        </p:grpSpPr>
        <p:grpSp>
          <p:nvGrpSpPr>
            <p:cNvPr id="48" name="Group 48"/>
            <p:cNvGrpSpPr/>
            <p:nvPr/>
          </p:nvGrpSpPr>
          <p:grpSpPr>
            <a:xfrm>
              <a:off x="728497" y="0"/>
              <a:ext cx="17155732" cy="1966942"/>
              <a:chOff x="0" y="0"/>
              <a:chExt cx="9344081" cy="1071319"/>
            </a:xfrm>
          </p:grpSpPr>
          <p:sp>
            <p:nvSpPr>
              <p:cNvPr id="49" name="Freeform 49"/>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50" name="Freeform 50"/>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1" name="TextBox 51"/>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SMS notification system for users who don't always have access to a smartphone.</a:t>
              </a:r>
            </a:p>
          </p:txBody>
        </p:sp>
      </p:grpSp>
      <p:sp>
        <p:nvSpPr>
          <p:cNvPr id="52" name="Freeform 52"/>
          <p:cNvSpPr/>
          <p:nvPr/>
        </p:nvSpPr>
        <p:spPr>
          <a:xfrm>
            <a:off x="11763126" y="8657197"/>
            <a:ext cx="1466292" cy="1436966"/>
          </a:xfrm>
          <a:custGeom>
            <a:avLst/>
            <a:gdLst/>
            <a:ahLst/>
            <a:cxnLst/>
            <a:rect l="l" t="t" r="r" b="b"/>
            <a:pathLst>
              <a:path w="1466292" h="1436966">
                <a:moveTo>
                  <a:pt x="0" y="0"/>
                </a:moveTo>
                <a:lnTo>
                  <a:pt x="1466292" y="0"/>
                </a:lnTo>
                <a:lnTo>
                  <a:pt x="1466292" y="1436966"/>
                </a:lnTo>
                <a:lnTo>
                  <a:pt x="0" y="1436966"/>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grpSp>
        <p:nvGrpSpPr>
          <p:cNvPr id="53" name="Group 53"/>
          <p:cNvGrpSpPr/>
          <p:nvPr/>
        </p:nvGrpSpPr>
        <p:grpSpPr>
          <a:xfrm>
            <a:off x="745339" y="310344"/>
            <a:ext cx="4670373" cy="958315"/>
            <a:chOff x="0" y="0"/>
            <a:chExt cx="6227165" cy="1277753"/>
          </a:xfrm>
        </p:grpSpPr>
        <p:sp>
          <p:nvSpPr>
            <p:cNvPr id="54" name="TextBox 54"/>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55" name="Freeform 55"/>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29"/>
              <a:stretch>
                <a:fillRect/>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6109342" y="7319006"/>
            <a:ext cx="15029286" cy="4131433"/>
            <a:chOff x="0" y="0"/>
            <a:chExt cx="3958330" cy="1088114"/>
          </a:xfrm>
        </p:grpSpPr>
        <p:sp>
          <p:nvSpPr>
            <p:cNvPr id="3" name="Freeform 3"/>
            <p:cNvSpPr/>
            <p:nvPr/>
          </p:nvSpPr>
          <p:spPr>
            <a:xfrm>
              <a:off x="0" y="0"/>
              <a:ext cx="3958330" cy="1088114"/>
            </a:xfrm>
            <a:custGeom>
              <a:avLst/>
              <a:gdLst/>
              <a:ahLst/>
              <a:cxnLst/>
              <a:rect l="l" t="t" r="r" b="b"/>
              <a:pathLst>
                <a:path w="3958330" h="1088114">
                  <a:moveTo>
                    <a:pt x="1979165" y="0"/>
                  </a:moveTo>
                  <a:cubicBezTo>
                    <a:pt x="886103" y="0"/>
                    <a:pt x="0" y="243583"/>
                    <a:pt x="0" y="544057"/>
                  </a:cubicBezTo>
                  <a:cubicBezTo>
                    <a:pt x="0" y="844531"/>
                    <a:pt x="886103" y="1088114"/>
                    <a:pt x="1979165" y="1088114"/>
                  </a:cubicBezTo>
                  <a:cubicBezTo>
                    <a:pt x="3072228" y="1088114"/>
                    <a:pt x="3958330" y="844531"/>
                    <a:pt x="3958330" y="544057"/>
                  </a:cubicBezTo>
                  <a:cubicBezTo>
                    <a:pt x="3958330" y="243583"/>
                    <a:pt x="3072228" y="0"/>
                    <a:pt x="1979165" y="0"/>
                  </a:cubicBezTo>
                  <a:close/>
                </a:path>
              </a:pathLst>
            </a:custGeom>
            <a:gradFill rotWithShape="1">
              <a:gsLst>
                <a:gs pos="0">
                  <a:srgbClr val="DDD91D">
                    <a:alpha val="100000"/>
                  </a:srgbClr>
                </a:gs>
                <a:gs pos="100000">
                  <a:srgbClr val="92BF2C">
                    <a:alpha val="100000"/>
                  </a:srgbClr>
                </a:gs>
              </a:gsLst>
              <a:lin ang="5400000"/>
            </a:gradFill>
          </p:spPr>
        </p:sp>
        <p:sp>
          <p:nvSpPr>
            <p:cNvPr id="4" name="TextBox 4"/>
            <p:cNvSpPr txBox="1"/>
            <p:nvPr/>
          </p:nvSpPr>
          <p:spPr>
            <a:xfrm>
              <a:off x="371093" y="63911"/>
              <a:ext cx="3216143" cy="92219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6662" y="4112743"/>
            <a:ext cx="2544557" cy="4500020"/>
          </a:xfrm>
          <a:custGeom>
            <a:avLst/>
            <a:gdLst/>
            <a:ahLst/>
            <a:cxnLst/>
            <a:rect l="l" t="t" r="r" b="b"/>
            <a:pathLst>
              <a:path w="2544557" h="4500020">
                <a:moveTo>
                  <a:pt x="0" y="0"/>
                </a:moveTo>
                <a:lnTo>
                  <a:pt x="2544557" y="0"/>
                </a:lnTo>
                <a:lnTo>
                  <a:pt x="2544557" y="4500021"/>
                </a:lnTo>
                <a:lnTo>
                  <a:pt x="0" y="45000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5033949" y="8301852"/>
            <a:ext cx="16099503" cy="9907199"/>
            <a:chOff x="0" y="0"/>
            <a:chExt cx="4240198" cy="2609303"/>
          </a:xfrm>
        </p:grpSpPr>
        <p:sp>
          <p:nvSpPr>
            <p:cNvPr id="7" name="Freeform 7"/>
            <p:cNvSpPr/>
            <p:nvPr/>
          </p:nvSpPr>
          <p:spPr>
            <a:xfrm>
              <a:off x="0" y="0"/>
              <a:ext cx="4240198" cy="2609304"/>
            </a:xfrm>
            <a:custGeom>
              <a:avLst/>
              <a:gdLst/>
              <a:ahLst/>
              <a:cxnLst/>
              <a:rect l="l" t="t" r="r" b="b"/>
              <a:pathLst>
                <a:path w="4240198" h="2609304">
                  <a:moveTo>
                    <a:pt x="2120099" y="0"/>
                  </a:moveTo>
                  <a:cubicBezTo>
                    <a:pt x="949201" y="0"/>
                    <a:pt x="0" y="584112"/>
                    <a:pt x="0" y="1304652"/>
                  </a:cubicBezTo>
                  <a:cubicBezTo>
                    <a:pt x="0" y="2025191"/>
                    <a:pt x="949201" y="2609304"/>
                    <a:pt x="2120099" y="2609304"/>
                  </a:cubicBezTo>
                  <a:cubicBezTo>
                    <a:pt x="3290998" y="2609304"/>
                    <a:pt x="4240198" y="2025191"/>
                    <a:pt x="4240198" y="1304652"/>
                  </a:cubicBezTo>
                  <a:cubicBezTo>
                    <a:pt x="4240198" y="584112"/>
                    <a:pt x="3290998" y="0"/>
                    <a:pt x="2120099" y="0"/>
                  </a:cubicBezTo>
                  <a:close/>
                </a:path>
              </a:pathLst>
            </a:custGeom>
            <a:gradFill rotWithShape="1">
              <a:gsLst>
                <a:gs pos="0">
                  <a:srgbClr val="23AC3A">
                    <a:alpha val="100000"/>
                  </a:srgbClr>
                </a:gs>
                <a:gs pos="100000">
                  <a:srgbClr val="81CC7D">
                    <a:alpha val="100000"/>
                  </a:srgbClr>
                </a:gs>
              </a:gsLst>
              <a:lin ang="5400000"/>
            </a:gradFill>
          </p:spPr>
        </p:sp>
        <p:sp>
          <p:nvSpPr>
            <p:cNvPr id="8" name="TextBox 8"/>
            <p:cNvSpPr txBox="1"/>
            <p:nvPr/>
          </p:nvSpPr>
          <p:spPr>
            <a:xfrm>
              <a:off x="397519" y="206522"/>
              <a:ext cx="3445161" cy="2158159"/>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2379985" y="2695525"/>
            <a:ext cx="1566412" cy="1592045"/>
          </a:xfrm>
          <a:custGeom>
            <a:avLst/>
            <a:gdLst/>
            <a:ahLst/>
            <a:cxnLst/>
            <a:rect l="l" t="t" r="r" b="b"/>
            <a:pathLst>
              <a:path w="1566412" h="1592045">
                <a:moveTo>
                  <a:pt x="0" y="0"/>
                </a:moveTo>
                <a:lnTo>
                  <a:pt x="1566412" y="0"/>
                </a:lnTo>
                <a:lnTo>
                  <a:pt x="1566412" y="1592044"/>
                </a:lnTo>
                <a:lnTo>
                  <a:pt x="0" y="15920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a:off x="8268478" y="2784097"/>
            <a:ext cx="1566412" cy="1592045"/>
          </a:xfrm>
          <a:custGeom>
            <a:avLst/>
            <a:gdLst/>
            <a:ahLst/>
            <a:cxnLst/>
            <a:rect l="l" t="t" r="r" b="b"/>
            <a:pathLst>
              <a:path w="1566412" h="1592045">
                <a:moveTo>
                  <a:pt x="0" y="0"/>
                </a:moveTo>
                <a:lnTo>
                  <a:pt x="1566413" y="0"/>
                </a:lnTo>
                <a:lnTo>
                  <a:pt x="1566413" y="1592045"/>
                </a:lnTo>
                <a:lnTo>
                  <a:pt x="0" y="15920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4284884" y="2866694"/>
            <a:ext cx="1566412" cy="1592045"/>
          </a:xfrm>
          <a:custGeom>
            <a:avLst/>
            <a:gdLst/>
            <a:ahLst/>
            <a:cxnLst/>
            <a:rect l="l" t="t" r="r" b="b"/>
            <a:pathLst>
              <a:path w="1566412" h="1592045">
                <a:moveTo>
                  <a:pt x="0" y="0"/>
                </a:moveTo>
                <a:lnTo>
                  <a:pt x="1566412" y="0"/>
                </a:lnTo>
                <a:lnTo>
                  <a:pt x="1566412" y="1592045"/>
                </a:lnTo>
                <a:lnTo>
                  <a:pt x="0" y="15920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2651219" y="7356030"/>
            <a:ext cx="3405673" cy="387395"/>
          </a:xfrm>
          <a:custGeom>
            <a:avLst/>
            <a:gdLst/>
            <a:ahLst/>
            <a:cxnLst/>
            <a:rect l="l" t="t" r="r" b="b"/>
            <a:pathLst>
              <a:path w="3405673" h="387395">
                <a:moveTo>
                  <a:pt x="0" y="0"/>
                </a:moveTo>
                <a:lnTo>
                  <a:pt x="3405672" y="0"/>
                </a:lnTo>
                <a:lnTo>
                  <a:pt x="3405672" y="387395"/>
                </a:lnTo>
                <a:lnTo>
                  <a:pt x="0" y="387395"/>
                </a:lnTo>
                <a:lnTo>
                  <a:pt x="0" y="0"/>
                </a:lnTo>
                <a:close/>
              </a:path>
            </a:pathLst>
          </a:custGeom>
          <a:blipFill>
            <a:blip r:embed="rId7"/>
            <a:stretch>
              <a:fillRect/>
            </a:stretch>
          </a:blipFill>
        </p:spPr>
      </p:sp>
      <p:sp>
        <p:nvSpPr>
          <p:cNvPr id="13" name="Freeform 13"/>
          <p:cNvSpPr/>
          <p:nvPr/>
        </p:nvSpPr>
        <p:spPr>
          <a:xfrm>
            <a:off x="7442381" y="7312238"/>
            <a:ext cx="3405673" cy="387395"/>
          </a:xfrm>
          <a:custGeom>
            <a:avLst/>
            <a:gdLst/>
            <a:ahLst/>
            <a:cxnLst/>
            <a:rect l="l" t="t" r="r" b="b"/>
            <a:pathLst>
              <a:path w="3405673" h="387395">
                <a:moveTo>
                  <a:pt x="0" y="0"/>
                </a:moveTo>
                <a:lnTo>
                  <a:pt x="3405673" y="0"/>
                </a:lnTo>
                <a:lnTo>
                  <a:pt x="3405673" y="387395"/>
                </a:lnTo>
                <a:lnTo>
                  <a:pt x="0" y="387395"/>
                </a:lnTo>
                <a:lnTo>
                  <a:pt x="0" y="0"/>
                </a:lnTo>
                <a:close/>
              </a:path>
            </a:pathLst>
          </a:custGeom>
          <a:blipFill>
            <a:blip r:embed="rId7"/>
            <a:stretch>
              <a:fillRect/>
            </a:stretch>
          </a:blipFill>
        </p:spPr>
      </p:sp>
      <p:sp>
        <p:nvSpPr>
          <p:cNvPr id="14" name="Freeform 14"/>
          <p:cNvSpPr/>
          <p:nvPr/>
        </p:nvSpPr>
        <p:spPr>
          <a:xfrm>
            <a:off x="12175699" y="7312238"/>
            <a:ext cx="3405673" cy="387395"/>
          </a:xfrm>
          <a:custGeom>
            <a:avLst/>
            <a:gdLst/>
            <a:ahLst/>
            <a:cxnLst/>
            <a:rect l="l" t="t" r="r" b="b"/>
            <a:pathLst>
              <a:path w="3405673" h="387395">
                <a:moveTo>
                  <a:pt x="0" y="0"/>
                </a:moveTo>
                <a:lnTo>
                  <a:pt x="3405673" y="0"/>
                </a:lnTo>
                <a:lnTo>
                  <a:pt x="3405673" y="387395"/>
                </a:lnTo>
                <a:lnTo>
                  <a:pt x="0" y="387395"/>
                </a:lnTo>
                <a:lnTo>
                  <a:pt x="0" y="0"/>
                </a:lnTo>
                <a:close/>
              </a:path>
            </a:pathLst>
          </a:custGeom>
          <a:blipFill>
            <a:blip r:embed="rId7"/>
            <a:stretch>
              <a:fillRect/>
            </a:stretch>
          </a:blipFill>
        </p:spPr>
      </p:sp>
      <p:grpSp>
        <p:nvGrpSpPr>
          <p:cNvPr id="15" name="Group 15"/>
          <p:cNvGrpSpPr/>
          <p:nvPr/>
        </p:nvGrpSpPr>
        <p:grpSpPr>
          <a:xfrm>
            <a:off x="397075" y="3498560"/>
            <a:ext cx="5659817" cy="2017750"/>
            <a:chOff x="0" y="0"/>
            <a:chExt cx="1355005" cy="483065"/>
          </a:xfrm>
        </p:grpSpPr>
        <p:sp>
          <p:nvSpPr>
            <p:cNvPr id="16" name="Freeform 16"/>
            <p:cNvSpPr/>
            <p:nvPr/>
          </p:nvSpPr>
          <p:spPr>
            <a:xfrm>
              <a:off x="0" y="0"/>
              <a:ext cx="1355005" cy="483065"/>
            </a:xfrm>
            <a:custGeom>
              <a:avLst/>
              <a:gdLst/>
              <a:ahLst/>
              <a:cxnLst/>
              <a:rect l="l" t="t" r="r" b="b"/>
              <a:pathLst>
                <a:path w="1355005" h="483065">
                  <a:moveTo>
                    <a:pt x="32829" y="0"/>
                  </a:moveTo>
                  <a:lnTo>
                    <a:pt x="1322176" y="0"/>
                  </a:lnTo>
                  <a:cubicBezTo>
                    <a:pt x="1340307" y="0"/>
                    <a:pt x="1355005" y="14698"/>
                    <a:pt x="1355005" y="32829"/>
                  </a:cubicBezTo>
                  <a:lnTo>
                    <a:pt x="1355005" y="450236"/>
                  </a:lnTo>
                  <a:cubicBezTo>
                    <a:pt x="1355005" y="468367"/>
                    <a:pt x="1340307" y="483065"/>
                    <a:pt x="1322176" y="483065"/>
                  </a:cubicBezTo>
                  <a:lnTo>
                    <a:pt x="32829" y="483065"/>
                  </a:lnTo>
                  <a:cubicBezTo>
                    <a:pt x="14698" y="483065"/>
                    <a:pt x="0" y="468367"/>
                    <a:pt x="0" y="450236"/>
                  </a:cubicBezTo>
                  <a:lnTo>
                    <a:pt x="0" y="32829"/>
                  </a:lnTo>
                  <a:cubicBezTo>
                    <a:pt x="0" y="14698"/>
                    <a:pt x="14698" y="0"/>
                    <a:pt x="32829" y="0"/>
                  </a:cubicBezTo>
                  <a:close/>
                </a:path>
              </a:pathLst>
            </a:custGeom>
            <a:solidFill>
              <a:srgbClr val="FFFFFF"/>
            </a:solidFill>
          </p:spPr>
        </p:sp>
        <p:sp>
          <p:nvSpPr>
            <p:cNvPr id="17" name="TextBox 17"/>
            <p:cNvSpPr txBox="1"/>
            <p:nvPr/>
          </p:nvSpPr>
          <p:spPr>
            <a:xfrm>
              <a:off x="0" y="-38100"/>
              <a:ext cx="1355005" cy="521165"/>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8268478" y="8612764"/>
            <a:ext cx="10154068" cy="2289281"/>
          </a:xfrm>
          <a:custGeom>
            <a:avLst/>
            <a:gdLst/>
            <a:ahLst/>
            <a:cxnLst/>
            <a:rect l="l" t="t" r="r" b="b"/>
            <a:pathLst>
              <a:path w="10154068" h="2289281">
                <a:moveTo>
                  <a:pt x="0" y="0"/>
                </a:moveTo>
                <a:lnTo>
                  <a:pt x="10154069" y="0"/>
                </a:lnTo>
                <a:lnTo>
                  <a:pt x="10154069" y="2289280"/>
                </a:lnTo>
                <a:lnTo>
                  <a:pt x="0" y="22892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Freeform 19"/>
          <p:cNvSpPr/>
          <p:nvPr/>
        </p:nvSpPr>
        <p:spPr>
          <a:xfrm>
            <a:off x="-489055" y="7356030"/>
            <a:ext cx="2688781" cy="2092361"/>
          </a:xfrm>
          <a:custGeom>
            <a:avLst/>
            <a:gdLst/>
            <a:ahLst/>
            <a:cxnLst/>
            <a:rect l="l" t="t" r="r" b="b"/>
            <a:pathLst>
              <a:path w="2688781" h="2092361">
                <a:moveTo>
                  <a:pt x="0" y="0"/>
                </a:moveTo>
                <a:lnTo>
                  <a:pt x="2688781" y="0"/>
                </a:lnTo>
                <a:lnTo>
                  <a:pt x="2688781" y="2092361"/>
                </a:lnTo>
                <a:lnTo>
                  <a:pt x="0" y="209236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0" name="Freeform 20"/>
          <p:cNvSpPr/>
          <p:nvPr/>
        </p:nvSpPr>
        <p:spPr>
          <a:xfrm>
            <a:off x="16353043" y="4675693"/>
            <a:ext cx="1628687" cy="3067733"/>
          </a:xfrm>
          <a:custGeom>
            <a:avLst/>
            <a:gdLst/>
            <a:ahLst/>
            <a:cxnLst/>
            <a:rect l="l" t="t" r="r" b="b"/>
            <a:pathLst>
              <a:path w="1628687" h="3067733">
                <a:moveTo>
                  <a:pt x="0" y="0"/>
                </a:moveTo>
                <a:lnTo>
                  <a:pt x="1628687" y="0"/>
                </a:lnTo>
                <a:lnTo>
                  <a:pt x="1628687" y="3067732"/>
                </a:lnTo>
                <a:lnTo>
                  <a:pt x="0" y="30677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1" name="Freeform 21"/>
          <p:cNvSpPr/>
          <p:nvPr/>
        </p:nvSpPr>
        <p:spPr>
          <a:xfrm>
            <a:off x="2046310" y="8794530"/>
            <a:ext cx="1375447" cy="1180384"/>
          </a:xfrm>
          <a:custGeom>
            <a:avLst/>
            <a:gdLst/>
            <a:ahLst/>
            <a:cxnLst/>
            <a:rect l="l" t="t" r="r" b="b"/>
            <a:pathLst>
              <a:path w="1375447" h="1180384">
                <a:moveTo>
                  <a:pt x="0" y="0"/>
                </a:moveTo>
                <a:lnTo>
                  <a:pt x="1375447" y="0"/>
                </a:lnTo>
                <a:lnTo>
                  <a:pt x="1375447" y="1180384"/>
                </a:lnTo>
                <a:lnTo>
                  <a:pt x="0" y="118038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2" name="Freeform 22"/>
          <p:cNvSpPr/>
          <p:nvPr/>
        </p:nvSpPr>
        <p:spPr>
          <a:xfrm flipH="1">
            <a:off x="6415267" y="797404"/>
            <a:ext cx="3706422" cy="1078232"/>
          </a:xfrm>
          <a:custGeom>
            <a:avLst/>
            <a:gdLst/>
            <a:ahLst/>
            <a:cxnLst/>
            <a:rect l="l" t="t" r="r" b="b"/>
            <a:pathLst>
              <a:path w="3706422" h="1078232">
                <a:moveTo>
                  <a:pt x="3706422" y="0"/>
                </a:moveTo>
                <a:lnTo>
                  <a:pt x="0" y="0"/>
                </a:lnTo>
                <a:lnTo>
                  <a:pt x="0" y="1078232"/>
                </a:lnTo>
                <a:lnTo>
                  <a:pt x="3706422" y="1078232"/>
                </a:lnTo>
                <a:lnTo>
                  <a:pt x="3706422"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3" name="Freeform 23"/>
          <p:cNvSpPr/>
          <p:nvPr/>
        </p:nvSpPr>
        <p:spPr>
          <a:xfrm>
            <a:off x="14913058" y="530831"/>
            <a:ext cx="5539108" cy="1611377"/>
          </a:xfrm>
          <a:custGeom>
            <a:avLst/>
            <a:gdLst/>
            <a:ahLst/>
            <a:cxnLst/>
            <a:rect l="l" t="t" r="r" b="b"/>
            <a:pathLst>
              <a:path w="5539108" h="1611377">
                <a:moveTo>
                  <a:pt x="0" y="0"/>
                </a:moveTo>
                <a:lnTo>
                  <a:pt x="5539108" y="0"/>
                </a:lnTo>
                <a:lnTo>
                  <a:pt x="5539108" y="1611377"/>
                </a:lnTo>
                <a:lnTo>
                  <a:pt x="0" y="1611377"/>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4" name="Freeform 24"/>
          <p:cNvSpPr/>
          <p:nvPr/>
        </p:nvSpPr>
        <p:spPr>
          <a:xfrm>
            <a:off x="7176013" y="138796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5" name="Freeform 25"/>
          <p:cNvSpPr/>
          <p:nvPr/>
        </p:nvSpPr>
        <p:spPr>
          <a:xfrm>
            <a:off x="17509236" y="3237781"/>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6" name="Freeform 26"/>
          <p:cNvSpPr/>
          <p:nvPr/>
        </p:nvSpPr>
        <p:spPr>
          <a:xfrm>
            <a:off x="10357619" y="4822715"/>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7" name="Freeform 27"/>
          <p:cNvSpPr/>
          <p:nvPr/>
        </p:nvSpPr>
        <p:spPr>
          <a:xfrm>
            <a:off x="681960" y="2524355"/>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8" name="TextBox 28"/>
          <p:cNvSpPr txBox="1"/>
          <p:nvPr/>
        </p:nvSpPr>
        <p:spPr>
          <a:xfrm>
            <a:off x="1186301" y="1373433"/>
            <a:ext cx="4368958" cy="780415"/>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Pain Reliever</a:t>
            </a:r>
          </a:p>
        </p:txBody>
      </p:sp>
      <p:sp>
        <p:nvSpPr>
          <p:cNvPr id="29" name="TextBox 29"/>
          <p:cNvSpPr txBox="1"/>
          <p:nvPr/>
        </p:nvSpPr>
        <p:spPr>
          <a:xfrm>
            <a:off x="681960" y="3971594"/>
            <a:ext cx="5167031" cy="1242362"/>
          </a:xfrm>
          <a:prstGeom prst="rect">
            <a:avLst/>
          </a:prstGeom>
        </p:spPr>
        <p:txBody>
          <a:bodyPr lIns="0" tIns="0" rIns="0" bIns="0" rtlCol="0" anchor="t">
            <a:spAutoFit/>
          </a:bodyPr>
          <a:lstStyle/>
          <a:p>
            <a:pPr algn="ctr">
              <a:lnSpc>
                <a:spcPts val="3161"/>
              </a:lnSpc>
            </a:pPr>
            <a:r>
              <a:rPr lang="en-US" sz="3161" dirty="0">
                <a:solidFill>
                  <a:srgbClr val="01654F"/>
                </a:solidFill>
                <a:latin typeface="Times New Roman"/>
                <a:ea typeface="Times New Roman"/>
                <a:cs typeface="Times New Roman"/>
                <a:sym typeface="Times New Roman"/>
              </a:rPr>
              <a:t>No uncertainty or irregular collection - weekly pickups are fixed</a:t>
            </a:r>
          </a:p>
        </p:txBody>
      </p:sp>
      <p:sp>
        <p:nvSpPr>
          <p:cNvPr id="30" name="Freeform 30"/>
          <p:cNvSpPr/>
          <p:nvPr/>
        </p:nvSpPr>
        <p:spPr>
          <a:xfrm>
            <a:off x="12947109" y="7312238"/>
            <a:ext cx="2437929" cy="1675522"/>
          </a:xfrm>
          <a:custGeom>
            <a:avLst/>
            <a:gdLst/>
            <a:ahLst/>
            <a:cxnLst/>
            <a:rect l="l" t="t" r="r" b="b"/>
            <a:pathLst>
              <a:path w="2437929" h="1675522">
                <a:moveTo>
                  <a:pt x="0" y="0"/>
                </a:moveTo>
                <a:lnTo>
                  <a:pt x="2437929" y="0"/>
                </a:lnTo>
                <a:lnTo>
                  <a:pt x="2437929" y="1675522"/>
                </a:lnTo>
                <a:lnTo>
                  <a:pt x="0" y="16755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31" name="Freeform 31"/>
          <p:cNvSpPr/>
          <p:nvPr/>
        </p:nvSpPr>
        <p:spPr>
          <a:xfrm>
            <a:off x="14913058" y="7356030"/>
            <a:ext cx="2437929" cy="1675522"/>
          </a:xfrm>
          <a:custGeom>
            <a:avLst/>
            <a:gdLst/>
            <a:ahLst/>
            <a:cxnLst/>
            <a:rect l="l" t="t" r="r" b="b"/>
            <a:pathLst>
              <a:path w="2437929" h="1675522">
                <a:moveTo>
                  <a:pt x="0" y="0"/>
                </a:moveTo>
                <a:lnTo>
                  <a:pt x="2437929" y="0"/>
                </a:lnTo>
                <a:lnTo>
                  <a:pt x="2437929" y="1675522"/>
                </a:lnTo>
                <a:lnTo>
                  <a:pt x="0" y="16755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32" name="Freeform 32"/>
          <p:cNvSpPr/>
          <p:nvPr/>
        </p:nvSpPr>
        <p:spPr>
          <a:xfrm>
            <a:off x="15468424" y="6853211"/>
            <a:ext cx="2819576" cy="2681161"/>
          </a:xfrm>
          <a:custGeom>
            <a:avLst/>
            <a:gdLst/>
            <a:ahLst/>
            <a:cxnLst/>
            <a:rect l="l" t="t" r="r" b="b"/>
            <a:pathLst>
              <a:path w="2819576" h="2681161">
                <a:moveTo>
                  <a:pt x="0" y="0"/>
                </a:moveTo>
                <a:lnTo>
                  <a:pt x="2819576" y="0"/>
                </a:lnTo>
                <a:lnTo>
                  <a:pt x="2819576" y="2681161"/>
                </a:lnTo>
                <a:lnTo>
                  <a:pt x="0" y="2681161"/>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grpSp>
        <p:nvGrpSpPr>
          <p:cNvPr id="33" name="Group 33"/>
          <p:cNvGrpSpPr/>
          <p:nvPr/>
        </p:nvGrpSpPr>
        <p:grpSpPr>
          <a:xfrm>
            <a:off x="6415267" y="3566404"/>
            <a:ext cx="5659817" cy="2017750"/>
            <a:chOff x="0" y="0"/>
            <a:chExt cx="1355005" cy="483065"/>
          </a:xfrm>
        </p:grpSpPr>
        <p:sp>
          <p:nvSpPr>
            <p:cNvPr id="34" name="Freeform 34"/>
            <p:cNvSpPr/>
            <p:nvPr/>
          </p:nvSpPr>
          <p:spPr>
            <a:xfrm>
              <a:off x="0" y="0"/>
              <a:ext cx="1355005" cy="483065"/>
            </a:xfrm>
            <a:custGeom>
              <a:avLst/>
              <a:gdLst/>
              <a:ahLst/>
              <a:cxnLst/>
              <a:rect l="l" t="t" r="r" b="b"/>
              <a:pathLst>
                <a:path w="1355005" h="483065">
                  <a:moveTo>
                    <a:pt x="32829" y="0"/>
                  </a:moveTo>
                  <a:lnTo>
                    <a:pt x="1322176" y="0"/>
                  </a:lnTo>
                  <a:cubicBezTo>
                    <a:pt x="1340307" y="0"/>
                    <a:pt x="1355005" y="14698"/>
                    <a:pt x="1355005" y="32829"/>
                  </a:cubicBezTo>
                  <a:lnTo>
                    <a:pt x="1355005" y="450236"/>
                  </a:lnTo>
                  <a:cubicBezTo>
                    <a:pt x="1355005" y="468367"/>
                    <a:pt x="1340307" y="483065"/>
                    <a:pt x="1322176" y="483065"/>
                  </a:cubicBezTo>
                  <a:lnTo>
                    <a:pt x="32829" y="483065"/>
                  </a:lnTo>
                  <a:cubicBezTo>
                    <a:pt x="14698" y="483065"/>
                    <a:pt x="0" y="468367"/>
                    <a:pt x="0" y="450236"/>
                  </a:cubicBezTo>
                  <a:lnTo>
                    <a:pt x="0" y="32829"/>
                  </a:lnTo>
                  <a:cubicBezTo>
                    <a:pt x="0" y="14698"/>
                    <a:pt x="14698" y="0"/>
                    <a:pt x="32829" y="0"/>
                  </a:cubicBezTo>
                  <a:close/>
                </a:path>
              </a:pathLst>
            </a:custGeom>
            <a:solidFill>
              <a:srgbClr val="FFFFFF"/>
            </a:solidFill>
          </p:spPr>
        </p:sp>
        <p:sp>
          <p:nvSpPr>
            <p:cNvPr id="35" name="TextBox 35"/>
            <p:cNvSpPr txBox="1"/>
            <p:nvPr/>
          </p:nvSpPr>
          <p:spPr>
            <a:xfrm>
              <a:off x="0" y="-38100"/>
              <a:ext cx="1355005" cy="521165"/>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12433460" y="3634247"/>
            <a:ext cx="5659817" cy="2017750"/>
            <a:chOff x="0" y="0"/>
            <a:chExt cx="1355005" cy="483065"/>
          </a:xfrm>
        </p:grpSpPr>
        <p:sp>
          <p:nvSpPr>
            <p:cNvPr id="37" name="Freeform 37"/>
            <p:cNvSpPr/>
            <p:nvPr/>
          </p:nvSpPr>
          <p:spPr>
            <a:xfrm>
              <a:off x="0" y="0"/>
              <a:ext cx="1355005" cy="483065"/>
            </a:xfrm>
            <a:custGeom>
              <a:avLst/>
              <a:gdLst/>
              <a:ahLst/>
              <a:cxnLst/>
              <a:rect l="l" t="t" r="r" b="b"/>
              <a:pathLst>
                <a:path w="1355005" h="483065">
                  <a:moveTo>
                    <a:pt x="32829" y="0"/>
                  </a:moveTo>
                  <a:lnTo>
                    <a:pt x="1322176" y="0"/>
                  </a:lnTo>
                  <a:cubicBezTo>
                    <a:pt x="1340307" y="0"/>
                    <a:pt x="1355005" y="14698"/>
                    <a:pt x="1355005" y="32829"/>
                  </a:cubicBezTo>
                  <a:lnTo>
                    <a:pt x="1355005" y="450236"/>
                  </a:lnTo>
                  <a:cubicBezTo>
                    <a:pt x="1355005" y="468367"/>
                    <a:pt x="1340307" y="483065"/>
                    <a:pt x="1322176" y="483065"/>
                  </a:cubicBezTo>
                  <a:lnTo>
                    <a:pt x="32829" y="483065"/>
                  </a:lnTo>
                  <a:cubicBezTo>
                    <a:pt x="14698" y="483065"/>
                    <a:pt x="0" y="468367"/>
                    <a:pt x="0" y="450236"/>
                  </a:cubicBezTo>
                  <a:lnTo>
                    <a:pt x="0" y="32829"/>
                  </a:lnTo>
                  <a:cubicBezTo>
                    <a:pt x="0" y="14698"/>
                    <a:pt x="14698" y="0"/>
                    <a:pt x="32829" y="0"/>
                  </a:cubicBezTo>
                  <a:close/>
                </a:path>
              </a:pathLst>
            </a:custGeom>
            <a:solidFill>
              <a:srgbClr val="FFFFFF"/>
            </a:solidFill>
          </p:spPr>
        </p:sp>
        <p:sp>
          <p:nvSpPr>
            <p:cNvPr id="38" name="TextBox 38"/>
            <p:cNvSpPr txBox="1"/>
            <p:nvPr/>
          </p:nvSpPr>
          <p:spPr>
            <a:xfrm>
              <a:off x="0" y="-38100"/>
              <a:ext cx="1355005" cy="521165"/>
            </a:xfrm>
            <a:prstGeom prst="rect">
              <a:avLst/>
            </a:prstGeom>
          </p:spPr>
          <p:txBody>
            <a:bodyPr lIns="50800" tIns="50800" rIns="50800" bIns="50800" rtlCol="0" anchor="ctr"/>
            <a:lstStyle/>
            <a:p>
              <a:pPr algn="ctr">
                <a:lnSpc>
                  <a:spcPts val="2659"/>
                </a:lnSpc>
              </a:pPr>
              <a:endParaRPr/>
            </a:p>
          </p:txBody>
        </p:sp>
      </p:grpSp>
      <p:sp>
        <p:nvSpPr>
          <p:cNvPr id="39" name="Freeform 39"/>
          <p:cNvSpPr/>
          <p:nvPr/>
        </p:nvSpPr>
        <p:spPr>
          <a:xfrm>
            <a:off x="11458896" y="5957683"/>
            <a:ext cx="1566412" cy="1592045"/>
          </a:xfrm>
          <a:custGeom>
            <a:avLst/>
            <a:gdLst/>
            <a:ahLst/>
            <a:cxnLst/>
            <a:rect l="l" t="t" r="r" b="b"/>
            <a:pathLst>
              <a:path w="1566412" h="1592045">
                <a:moveTo>
                  <a:pt x="0" y="0"/>
                </a:moveTo>
                <a:lnTo>
                  <a:pt x="1566413" y="0"/>
                </a:lnTo>
                <a:lnTo>
                  <a:pt x="1566413" y="1592045"/>
                </a:lnTo>
                <a:lnTo>
                  <a:pt x="0" y="15920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0" name="Group 40"/>
          <p:cNvGrpSpPr/>
          <p:nvPr/>
        </p:nvGrpSpPr>
        <p:grpSpPr>
          <a:xfrm>
            <a:off x="9450424" y="6734551"/>
            <a:ext cx="5659817" cy="2017750"/>
            <a:chOff x="0" y="0"/>
            <a:chExt cx="1355005" cy="483065"/>
          </a:xfrm>
        </p:grpSpPr>
        <p:sp>
          <p:nvSpPr>
            <p:cNvPr id="41" name="Freeform 41"/>
            <p:cNvSpPr/>
            <p:nvPr/>
          </p:nvSpPr>
          <p:spPr>
            <a:xfrm>
              <a:off x="0" y="0"/>
              <a:ext cx="1355005" cy="483065"/>
            </a:xfrm>
            <a:custGeom>
              <a:avLst/>
              <a:gdLst/>
              <a:ahLst/>
              <a:cxnLst/>
              <a:rect l="l" t="t" r="r" b="b"/>
              <a:pathLst>
                <a:path w="1355005" h="483065">
                  <a:moveTo>
                    <a:pt x="32829" y="0"/>
                  </a:moveTo>
                  <a:lnTo>
                    <a:pt x="1322176" y="0"/>
                  </a:lnTo>
                  <a:cubicBezTo>
                    <a:pt x="1340307" y="0"/>
                    <a:pt x="1355005" y="14698"/>
                    <a:pt x="1355005" y="32829"/>
                  </a:cubicBezTo>
                  <a:lnTo>
                    <a:pt x="1355005" y="450236"/>
                  </a:lnTo>
                  <a:cubicBezTo>
                    <a:pt x="1355005" y="468367"/>
                    <a:pt x="1340307" y="483065"/>
                    <a:pt x="1322176" y="483065"/>
                  </a:cubicBezTo>
                  <a:lnTo>
                    <a:pt x="32829" y="483065"/>
                  </a:lnTo>
                  <a:cubicBezTo>
                    <a:pt x="14698" y="483065"/>
                    <a:pt x="0" y="468367"/>
                    <a:pt x="0" y="450236"/>
                  </a:cubicBezTo>
                  <a:lnTo>
                    <a:pt x="0" y="32829"/>
                  </a:lnTo>
                  <a:cubicBezTo>
                    <a:pt x="0" y="14698"/>
                    <a:pt x="14698" y="0"/>
                    <a:pt x="32829" y="0"/>
                  </a:cubicBezTo>
                  <a:close/>
                </a:path>
              </a:pathLst>
            </a:custGeom>
            <a:solidFill>
              <a:srgbClr val="FFFFFF"/>
            </a:solidFill>
          </p:spPr>
        </p:sp>
        <p:sp>
          <p:nvSpPr>
            <p:cNvPr id="42" name="TextBox 42"/>
            <p:cNvSpPr txBox="1"/>
            <p:nvPr/>
          </p:nvSpPr>
          <p:spPr>
            <a:xfrm>
              <a:off x="0" y="-38100"/>
              <a:ext cx="1355005" cy="521165"/>
            </a:xfrm>
            <a:prstGeom prst="rect">
              <a:avLst/>
            </a:prstGeom>
          </p:spPr>
          <p:txBody>
            <a:bodyPr lIns="50800" tIns="50800" rIns="50800" bIns="50800" rtlCol="0" anchor="ctr"/>
            <a:lstStyle/>
            <a:p>
              <a:pPr algn="ctr">
                <a:lnSpc>
                  <a:spcPts val="2659"/>
                </a:lnSpc>
              </a:pPr>
              <a:endParaRPr/>
            </a:p>
          </p:txBody>
        </p:sp>
      </p:grpSp>
      <p:sp>
        <p:nvSpPr>
          <p:cNvPr id="43" name="TextBox 43"/>
          <p:cNvSpPr txBox="1"/>
          <p:nvPr/>
        </p:nvSpPr>
        <p:spPr>
          <a:xfrm>
            <a:off x="6972213" y="3964003"/>
            <a:ext cx="4956421" cy="1242362"/>
          </a:xfrm>
          <a:prstGeom prst="rect">
            <a:avLst/>
          </a:prstGeom>
        </p:spPr>
        <p:txBody>
          <a:bodyPr lIns="0" tIns="0" rIns="0" bIns="0" rtlCol="0" anchor="t">
            <a:spAutoFit/>
          </a:bodyPr>
          <a:lstStyle/>
          <a:p>
            <a:pPr algn="ctr">
              <a:lnSpc>
                <a:spcPts val="3161"/>
              </a:lnSpc>
            </a:pPr>
            <a:r>
              <a:rPr lang="en-US" sz="3161" dirty="0">
                <a:solidFill>
                  <a:srgbClr val="01654F"/>
                </a:solidFill>
                <a:latin typeface="Times New Roman"/>
                <a:ea typeface="Times New Roman"/>
                <a:cs typeface="Times New Roman"/>
                <a:sym typeface="Times New Roman"/>
              </a:rPr>
              <a:t>The mobile app's real-time tracking offers complete accountability</a:t>
            </a:r>
          </a:p>
        </p:txBody>
      </p:sp>
      <p:sp>
        <p:nvSpPr>
          <p:cNvPr id="44" name="TextBox 44"/>
          <p:cNvSpPr txBox="1"/>
          <p:nvPr/>
        </p:nvSpPr>
        <p:spPr>
          <a:xfrm>
            <a:off x="13025309" y="4018535"/>
            <a:ext cx="4956421" cy="1242362"/>
          </a:xfrm>
          <a:prstGeom prst="rect">
            <a:avLst/>
          </a:prstGeom>
        </p:spPr>
        <p:txBody>
          <a:bodyPr lIns="0" tIns="0" rIns="0" bIns="0" rtlCol="0" anchor="t">
            <a:spAutoFit/>
          </a:bodyPr>
          <a:lstStyle/>
          <a:p>
            <a:pPr algn="ctr">
              <a:lnSpc>
                <a:spcPts val="3161"/>
              </a:lnSpc>
            </a:pPr>
            <a:r>
              <a:rPr lang="en-US" sz="3161" dirty="0">
                <a:solidFill>
                  <a:srgbClr val="01654F"/>
                </a:solidFill>
                <a:latin typeface="Times New Roman"/>
                <a:ea typeface="Times New Roman"/>
                <a:cs typeface="Times New Roman"/>
                <a:sym typeface="Times New Roman"/>
              </a:rPr>
              <a:t>Confirmations of pickup and payment status are sent via SMS notification</a:t>
            </a:r>
          </a:p>
        </p:txBody>
      </p:sp>
      <p:sp>
        <p:nvSpPr>
          <p:cNvPr id="45" name="Freeform 45"/>
          <p:cNvSpPr/>
          <p:nvPr/>
        </p:nvSpPr>
        <p:spPr>
          <a:xfrm>
            <a:off x="4848855" y="5957683"/>
            <a:ext cx="1566412" cy="1592045"/>
          </a:xfrm>
          <a:custGeom>
            <a:avLst/>
            <a:gdLst/>
            <a:ahLst/>
            <a:cxnLst/>
            <a:rect l="l" t="t" r="r" b="b"/>
            <a:pathLst>
              <a:path w="1566412" h="1592045">
                <a:moveTo>
                  <a:pt x="0" y="0"/>
                </a:moveTo>
                <a:lnTo>
                  <a:pt x="1566412" y="0"/>
                </a:lnTo>
                <a:lnTo>
                  <a:pt x="1566412" y="1592045"/>
                </a:lnTo>
                <a:lnTo>
                  <a:pt x="0" y="15920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6" name="Group 46"/>
          <p:cNvGrpSpPr/>
          <p:nvPr/>
        </p:nvGrpSpPr>
        <p:grpSpPr>
          <a:xfrm>
            <a:off x="3019082" y="6734551"/>
            <a:ext cx="5659817" cy="2017750"/>
            <a:chOff x="0" y="0"/>
            <a:chExt cx="1355005" cy="483065"/>
          </a:xfrm>
        </p:grpSpPr>
        <p:sp>
          <p:nvSpPr>
            <p:cNvPr id="47" name="Freeform 47"/>
            <p:cNvSpPr/>
            <p:nvPr/>
          </p:nvSpPr>
          <p:spPr>
            <a:xfrm>
              <a:off x="0" y="0"/>
              <a:ext cx="1355005" cy="483065"/>
            </a:xfrm>
            <a:custGeom>
              <a:avLst/>
              <a:gdLst/>
              <a:ahLst/>
              <a:cxnLst/>
              <a:rect l="l" t="t" r="r" b="b"/>
              <a:pathLst>
                <a:path w="1355005" h="483065">
                  <a:moveTo>
                    <a:pt x="32829" y="0"/>
                  </a:moveTo>
                  <a:lnTo>
                    <a:pt x="1322176" y="0"/>
                  </a:lnTo>
                  <a:cubicBezTo>
                    <a:pt x="1340307" y="0"/>
                    <a:pt x="1355005" y="14698"/>
                    <a:pt x="1355005" y="32829"/>
                  </a:cubicBezTo>
                  <a:lnTo>
                    <a:pt x="1355005" y="450236"/>
                  </a:lnTo>
                  <a:cubicBezTo>
                    <a:pt x="1355005" y="468367"/>
                    <a:pt x="1340307" y="483065"/>
                    <a:pt x="1322176" y="483065"/>
                  </a:cubicBezTo>
                  <a:lnTo>
                    <a:pt x="32829" y="483065"/>
                  </a:lnTo>
                  <a:cubicBezTo>
                    <a:pt x="14698" y="483065"/>
                    <a:pt x="0" y="468367"/>
                    <a:pt x="0" y="450236"/>
                  </a:cubicBezTo>
                  <a:lnTo>
                    <a:pt x="0" y="32829"/>
                  </a:lnTo>
                  <a:cubicBezTo>
                    <a:pt x="0" y="14698"/>
                    <a:pt x="14698" y="0"/>
                    <a:pt x="32829" y="0"/>
                  </a:cubicBezTo>
                  <a:close/>
                </a:path>
              </a:pathLst>
            </a:custGeom>
            <a:solidFill>
              <a:srgbClr val="FFFFFF"/>
            </a:solidFill>
          </p:spPr>
        </p:sp>
        <p:sp>
          <p:nvSpPr>
            <p:cNvPr id="48" name="TextBox 48"/>
            <p:cNvSpPr txBox="1"/>
            <p:nvPr/>
          </p:nvSpPr>
          <p:spPr>
            <a:xfrm>
              <a:off x="0" y="-38100"/>
              <a:ext cx="1355005" cy="521165"/>
            </a:xfrm>
            <a:prstGeom prst="rect">
              <a:avLst/>
            </a:prstGeom>
          </p:spPr>
          <p:txBody>
            <a:bodyPr lIns="50800" tIns="50800" rIns="50800" bIns="50800" rtlCol="0" anchor="ctr"/>
            <a:lstStyle/>
            <a:p>
              <a:pPr algn="ctr">
                <a:lnSpc>
                  <a:spcPts val="2659"/>
                </a:lnSpc>
              </a:pPr>
              <a:endParaRPr/>
            </a:p>
          </p:txBody>
        </p:sp>
      </p:grpSp>
      <p:sp>
        <p:nvSpPr>
          <p:cNvPr id="49" name="TextBox 49"/>
          <p:cNvSpPr txBox="1"/>
          <p:nvPr/>
        </p:nvSpPr>
        <p:spPr>
          <a:xfrm>
            <a:off x="3370780" y="6970352"/>
            <a:ext cx="4956421" cy="1231106"/>
          </a:xfrm>
          <a:prstGeom prst="rect">
            <a:avLst/>
          </a:prstGeom>
        </p:spPr>
        <p:txBody>
          <a:bodyPr lIns="0" tIns="0" rIns="0" bIns="0" rtlCol="0" anchor="t">
            <a:spAutoFit/>
          </a:bodyPr>
          <a:lstStyle/>
          <a:p>
            <a:pPr algn="ctr">
              <a:lnSpc>
                <a:spcPts val="3161"/>
              </a:lnSpc>
            </a:pPr>
            <a:r>
              <a:rPr lang="en-US" sz="3161" dirty="0">
                <a:solidFill>
                  <a:srgbClr val="01654F"/>
                </a:solidFill>
                <a:latin typeface="Times New Roman"/>
                <a:ea typeface="Times New Roman"/>
                <a:cs typeface="Times New Roman"/>
                <a:sym typeface="Times New Roman"/>
              </a:rPr>
              <a:t>Instant payment of naira on collection, catering for the lack of financial return</a:t>
            </a:r>
          </a:p>
        </p:txBody>
      </p:sp>
      <p:sp>
        <p:nvSpPr>
          <p:cNvPr id="50" name="TextBox 50"/>
          <p:cNvSpPr txBox="1"/>
          <p:nvPr/>
        </p:nvSpPr>
        <p:spPr>
          <a:xfrm>
            <a:off x="9802121" y="7156201"/>
            <a:ext cx="4956421" cy="1242362"/>
          </a:xfrm>
          <a:prstGeom prst="rect">
            <a:avLst/>
          </a:prstGeom>
        </p:spPr>
        <p:txBody>
          <a:bodyPr lIns="0" tIns="0" rIns="0" bIns="0" rtlCol="0" anchor="t">
            <a:spAutoFit/>
          </a:bodyPr>
          <a:lstStyle/>
          <a:p>
            <a:pPr algn="ctr">
              <a:lnSpc>
                <a:spcPts val="3161"/>
              </a:lnSpc>
            </a:pPr>
            <a:r>
              <a:rPr lang="en-US" sz="3161" dirty="0">
                <a:solidFill>
                  <a:srgbClr val="01654F"/>
                </a:solidFill>
                <a:latin typeface="Times New Roman"/>
                <a:ea typeface="Times New Roman"/>
                <a:cs typeface="Times New Roman"/>
                <a:sym typeface="Times New Roman"/>
              </a:rPr>
              <a:t>Storage containers provided to help </a:t>
            </a:r>
            <a:r>
              <a:rPr lang="en-US" sz="3161" dirty="0" err="1">
                <a:solidFill>
                  <a:srgbClr val="01654F"/>
                </a:solidFill>
                <a:latin typeface="Times New Roman"/>
                <a:ea typeface="Times New Roman"/>
                <a:cs typeface="Times New Roman"/>
                <a:sym typeface="Times New Roman"/>
              </a:rPr>
              <a:t>minimise</a:t>
            </a:r>
            <a:r>
              <a:rPr lang="en-US" sz="3161" dirty="0">
                <a:solidFill>
                  <a:srgbClr val="01654F"/>
                </a:solidFill>
                <a:latin typeface="Times New Roman"/>
                <a:ea typeface="Times New Roman"/>
                <a:cs typeface="Times New Roman"/>
                <a:sym typeface="Times New Roman"/>
              </a:rPr>
              <a:t> storage </a:t>
            </a:r>
            <a:r>
              <a:rPr lang="en-US" sz="3161" dirty="0" err="1">
                <a:solidFill>
                  <a:srgbClr val="01654F"/>
                </a:solidFill>
                <a:latin typeface="Times New Roman"/>
                <a:ea typeface="Times New Roman"/>
                <a:cs typeface="Times New Roman"/>
                <a:sym typeface="Times New Roman"/>
              </a:rPr>
              <a:t>odour</a:t>
            </a:r>
            <a:r>
              <a:rPr lang="en-US" sz="3161" dirty="0">
                <a:solidFill>
                  <a:srgbClr val="01654F"/>
                </a:solidFill>
                <a:latin typeface="Times New Roman"/>
                <a:ea typeface="Times New Roman"/>
                <a:cs typeface="Times New Roman"/>
                <a:sym typeface="Times New Roman"/>
              </a:rPr>
              <a:t> and pest hazards</a:t>
            </a:r>
          </a:p>
        </p:txBody>
      </p:sp>
      <p:grpSp>
        <p:nvGrpSpPr>
          <p:cNvPr id="51" name="Group 51"/>
          <p:cNvGrpSpPr/>
          <p:nvPr/>
        </p:nvGrpSpPr>
        <p:grpSpPr>
          <a:xfrm>
            <a:off x="745339" y="310344"/>
            <a:ext cx="4670373" cy="958315"/>
            <a:chOff x="0" y="0"/>
            <a:chExt cx="6227165" cy="1277753"/>
          </a:xfrm>
        </p:grpSpPr>
        <p:sp>
          <p:nvSpPr>
            <p:cNvPr id="52" name="TextBox 52"/>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53" name="Freeform 53"/>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24"/>
              <a:stretch>
                <a:fillRect/>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8150" y="-218150"/>
            <a:ext cx="18279850" cy="10723300"/>
            <a:chOff x="0" y="0"/>
            <a:chExt cx="4814446" cy="2824244"/>
          </a:xfrm>
        </p:grpSpPr>
        <p:sp>
          <p:nvSpPr>
            <p:cNvPr id="3" name="Freeform 3"/>
            <p:cNvSpPr/>
            <p:nvPr/>
          </p:nvSpPr>
          <p:spPr>
            <a:xfrm>
              <a:off x="0" y="0"/>
              <a:ext cx="4814446" cy="2824244"/>
            </a:xfrm>
            <a:custGeom>
              <a:avLst/>
              <a:gdLst/>
              <a:ahLst/>
              <a:cxnLst/>
              <a:rect l="l" t="t" r="r" b="b"/>
              <a:pathLst>
                <a:path w="4814446" h="2824244">
                  <a:moveTo>
                    <a:pt x="0" y="0"/>
                  </a:moveTo>
                  <a:lnTo>
                    <a:pt x="4814446" y="0"/>
                  </a:lnTo>
                  <a:lnTo>
                    <a:pt x="4814446" y="2824244"/>
                  </a:lnTo>
                  <a:lnTo>
                    <a:pt x="0" y="2824244"/>
                  </a:lnTo>
                  <a:close/>
                </a:path>
              </a:pathLst>
            </a:custGeom>
            <a:gradFill rotWithShape="1">
              <a:gsLst>
                <a:gs pos="0">
                  <a:srgbClr val="DDD91D">
                    <a:alpha val="100000"/>
                  </a:srgbClr>
                </a:gs>
                <a:gs pos="100000">
                  <a:srgbClr val="92BF2C">
                    <a:alpha val="100000"/>
                  </a:srgbClr>
                </a:gs>
              </a:gsLst>
              <a:lin ang="5400000"/>
            </a:gradFill>
          </p:spPr>
        </p:sp>
        <p:sp>
          <p:nvSpPr>
            <p:cNvPr id="4" name="TextBox 4"/>
            <p:cNvSpPr txBox="1"/>
            <p:nvPr/>
          </p:nvSpPr>
          <p:spPr>
            <a:xfrm>
              <a:off x="0" y="-38100"/>
              <a:ext cx="4814446" cy="286234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flipH="1">
            <a:off x="7745091" y="7757982"/>
            <a:ext cx="2458545" cy="1913195"/>
          </a:xfrm>
          <a:custGeom>
            <a:avLst/>
            <a:gdLst/>
            <a:ahLst/>
            <a:cxnLst/>
            <a:rect l="l" t="t" r="r" b="b"/>
            <a:pathLst>
              <a:path w="2458545" h="1913195">
                <a:moveTo>
                  <a:pt x="2458545" y="0"/>
                </a:moveTo>
                <a:lnTo>
                  <a:pt x="0" y="0"/>
                </a:lnTo>
                <a:lnTo>
                  <a:pt x="0" y="1913195"/>
                </a:lnTo>
                <a:lnTo>
                  <a:pt x="2458545" y="1913195"/>
                </a:lnTo>
                <a:lnTo>
                  <a:pt x="2458545"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249984" y="7966007"/>
            <a:ext cx="1681579" cy="1308574"/>
          </a:xfrm>
          <a:custGeom>
            <a:avLst/>
            <a:gdLst/>
            <a:ahLst/>
            <a:cxnLst/>
            <a:rect l="l" t="t" r="r" b="b"/>
            <a:pathLst>
              <a:path w="1681579" h="1308574">
                <a:moveTo>
                  <a:pt x="0" y="0"/>
                </a:moveTo>
                <a:lnTo>
                  <a:pt x="1681579" y="0"/>
                </a:lnTo>
                <a:lnTo>
                  <a:pt x="1681579" y="1308574"/>
                </a:lnTo>
                <a:lnTo>
                  <a:pt x="0" y="13085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324865" y="8938108"/>
            <a:ext cx="12137839" cy="4030389"/>
            <a:chOff x="0" y="0"/>
            <a:chExt cx="4240198" cy="1407965"/>
          </a:xfrm>
        </p:grpSpPr>
        <p:sp>
          <p:nvSpPr>
            <p:cNvPr id="8" name="Freeform 8"/>
            <p:cNvSpPr/>
            <p:nvPr/>
          </p:nvSpPr>
          <p:spPr>
            <a:xfrm>
              <a:off x="0" y="0"/>
              <a:ext cx="4240198" cy="1407965"/>
            </a:xfrm>
            <a:custGeom>
              <a:avLst/>
              <a:gdLst/>
              <a:ahLst/>
              <a:cxnLst/>
              <a:rect l="l" t="t" r="r" b="b"/>
              <a:pathLst>
                <a:path w="4240198" h="1407965">
                  <a:moveTo>
                    <a:pt x="2120099" y="0"/>
                  </a:moveTo>
                  <a:cubicBezTo>
                    <a:pt x="949201" y="0"/>
                    <a:pt x="0" y="315184"/>
                    <a:pt x="0" y="703982"/>
                  </a:cubicBezTo>
                  <a:cubicBezTo>
                    <a:pt x="0" y="1092781"/>
                    <a:pt x="949201" y="1407965"/>
                    <a:pt x="2120099" y="1407965"/>
                  </a:cubicBezTo>
                  <a:cubicBezTo>
                    <a:pt x="3290998" y="1407965"/>
                    <a:pt x="4240198" y="1092781"/>
                    <a:pt x="4240198" y="703982"/>
                  </a:cubicBezTo>
                  <a:cubicBezTo>
                    <a:pt x="4240198" y="315184"/>
                    <a:pt x="3290998" y="0"/>
                    <a:pt x="2120099" y="0"/>
                  </a:cubicBezTo>
                  <a:close/>
                </a:path>
              </a:pathLst>
            </a:custGeom>
            <a:gradFill rotWithShape="1">
              <a:gsLst>
                <a:gs pos="0">
                  <a:srgbClr val="98C850">
                    <a:alpha val="100000"/>
                  </a:srgbClr>
                </a:gs>
                <a:gs pos="100000">
                  <a:srgbClr val="84B83D">
                    <a:alpha val="100000"/>
                  </a:srgbClr>
                </a:gs>
              </a:gsLst>
              <a:lin ang="5400000"/>
            </a:gradFill>
          </p:spPr>
        </p:sp>
        <p:sp>
          <p:nvSpPr>
            <p:cNvPr id="9" name="TextBox 9"/>
            <p:cNvSpPr txBox="1"/>
            <p:nvPr/>
          </p:nvSpPr>
          <p:spPr>
            <a:xfrm>
              <a:off x="397519" y="93897"/>
              <a:ext cx="3445161" cy="1182071"/>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6238804" y="8316285"/>
            <a:ext cx="16099503" cy="9907199"/>
            <a:chOff x="0" y="0"/>
            <a:chExt cx="4240198" cy="2609303"/>
          </a:xfrm>
        </p:grpSpPr>
        <p:sp>
          <p:nvSpPr>
            <p:cNvPr id="11" name="Freeform 11"/>
            <p:cNvSpPr/>
            <p:nvPr/>
          </p:nvSpPr>
          <p:spPr>
            <a:xfrm>
              <a:off x="0" y="0"/>
              <a:ext cx="4240198" cy="2609304"/>
            </a:xfrm>
            <a:custGeom>
              <a:avLst/>
              <a:gdLst/>
              <a:ahLst/>
              <a:cxnLst/>
              <a:rect l="l" t="t" r="r" b="b"/>
              <a:pathLst>
                <a:path w="4240198" h="2609304">
                  <a:moveTo>
                    <a:pt x="2120099" y="0"/>
                  </a:moveTo>
                  <a:cubicBezTo>
                    <a:pt x="949201" y="0"/>
                    <a:pt x="0" y="584112"/>
                    <a:pt x="0" y="1304652"/>
                  </a:cubicBezTo>
                  <a:cubicBezTo>
                    <a:pt x="0" y="2025191"/>
                    <a:pt x="949201" y="2609304"/>
                    <a:pt x="2120099" y="2609304"/>
                  </a:cubicBezTo>
                  <a:cubicBezTo>
                    <a:pt x="3290998" y="2609304"/>
                    <a:pt x="4240198" y="2025191"/>
                    <a:pt x="4240198" y="1304652"/>
                  </a:cubicBezTo>
                  <a:cubicBezTo>
                    <a:pt x="4240198" y="584112"/>
                    <a:pt x="3290998" y="0"/>
                    <a:pt x="2120099" y="0"/>
                  </a:cubicBezTo>
                  <a:close/>
                </a:path>
              </a:pathLst>
            </a:custGeom>
            <a:gradFill rotWithShape="1">
              <a:gsLst>
                <a:gs pos="0">
                  <a:srgbClr val="23AC3A">
                    <a:alpha val="100000"/>
                  </a:srgbClr>
                </a:gs>
                <a:gs pos="100000">
                  <a:srgbClr val="81CC7D">
                    <a:alpha val="100000"/>
                  </a:srgbClr>
                </a:gs>
              </a:gsLst>
              <a:lin ang="5400000"/>
            </a:gradFill>
          </p:spPr>
        </p:sp>
        <p:sp>
          <p:nvSpPr>
            <p:cNvPr id="12" name="TextBox 12"/>
            <p:cNvSpPr txBox="1"/>
            <p:nvPr/>
          </p:nvSpPr>
          <p:spPr>
            <a:xfrm>
              <a:off x="397519" y="206522"/>
              <a:ext cx="3445161" cy="2158159"/>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1585134" y="6491980"/>
            <a:ext cx="911138" cy="911138"/>
          </a:xfrm>
          <a:custGeom>
            <a:avLst/>
            <a:gdLst/>
            <a:ahLst/>
            <a:cxnLst/>
            <a:rect l="l" t="t" r="r" b="b"/>
            <a:pathLst>
              <a:path w="911138" h="911138">
                <a:moveTo>
                  <a:pt x="0" y="0"/>
                </a:moveTo>
                <a:lnTo>
                  <a:pt x="911138" y="0"/>
                </a:lnTo>
                <a:lnTo>
                  <a:pt x="911138" y="911138"/>
                </a:lnTo>
                <a:lnTo>
                  <a:pt x="0" y="91113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9714668" y="9054330"/>
            <a:ext cx="6546982" cy="1476047"/>
          </a:xfrm>
          <a:custGeom>
            <a:avLst/>
            <a:gdLst/>
            <a:ahLst/>
            <a:cxnLst/>
            <a:rect l="l" t="t" r="r" b="b"/>
            <a:pathLst>
              <a:path w="6546982" h="1476047">
                <a:moveTo>
                  <a:pt x="0" y="0"/>
                </a:moveTo>
                <a:lnTo>
                  <a:pt x="6546983" y="0"/>
                </a:lnTo>
                <a:lnTo>
                  <a:pt x="6546983" y="1476047"/>
                </a:lnTo>
                <a:lnTo>
                  <a:pt x="0" y="14760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Freeform 15"/>
          <p:cNvSpPr/>
          <p:nvPr/>
        </p:nvSpPr>
        <p:spPr>
          <a:xfrm>
            <a:off x="4008739" y="6662461"/>
            <a:ext cx="4134560" cy="3307648"/>
          </a:xfrm>
          <a:custGeom>
            <a:avLst/>
            <a:gdLst/>
            <a:ahLst/>
            <a:cxnLst/>
            <a:rect l="l" t="t" r="r" b="b"/>
            <a:pathLst>
              <a:path w="4134560" h="3307648">
                <a:moveTo>
                  <a:pt x="0" y="0"/>
                </a:moveTo>
                <a:lnTo>
                  <a:pt x="4134561" y="0"/>
                </a:lnTo>
                <a:lnTo>
                  <a:pt x="4134561" y="3307648"/>
                </a:lnTo>
                <a:lnTo>
                  <a:pt x="0" y="3307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6" name="TextBox 16"/>
          <p:cNvSpPr txBox="1"/>
          <p:nvPr/>
        </p:nvSpPr>
        <p:spPr>
          <a:xfrm>
            <a:off x="1058103" y="1349665"/>
            <a:ext cx="6464663" cy="718145"/>
          </a:xfrm>
          <a:prstGeom prst="rect">
            <a:avLst/>
          </a:prstGeom>
        </p:spPr>
        <p:txBody>
          <a:bodyPr lIns="0" tIns="0" rIns="0" bIns="0" rtlCol="0" anchor="t">
            <a:spAutoFit/>
          </a:bodyPr>
          <a:lstStyle/>
          <a:p>
            <a:pPr>
              <a:lnSpc>
                <a:spcPts val="5600"/>
              </a:lnSpc>
            </a:pPr>
            <a:r>
              <a:rPr lang="en-US" sz="5600" b="1" dirty="0">
                <a:solidFill>
                  <a:srgbClr val="01654F"/>
                </a:solidFill>
                <a:latin typeface="Times New Roman Bold"/>
                <a:ea typeface="Times New Roman Bold"/>
                <a:cs typeface="Times New Roman Bold"/>
                <a:sym typeface="Times New Roman Bold"/>
              </a:rPr>
              <a:t>Gain Creators </a:t>
            </a:r>
          </a:p>
        </p:txBody>
      </p:sp>
      <p:sp>
        <p:nvSpPr>
          <p:cNvPr id="17" name="Freeform 17"/>
          <p:cNvSpPr/>
          <p:nvPr/>
        </p:nvSpPr>
        <p:spPr>
          <a:xfrm>
            <a:off x="7974994" y="691614"/>
            <a:ext cx="4065709" cy="1182752"/>
          </a:xfrm>
          <a:custGeom>
            <a:avLst/>
            <a:gdLst/>
            <a:ahLst/>
            <a:cxnLst/>
            <a:rect l="l" t="t" r="r" b="b"/>
            <a:pathLst>
              <a:path w="4065709" h="1182752">
                <a:moveTo>
                  <a:pt x="0" y="0"/>
                </a:moveTo>
                <a:lnTo>
                  <a:pt x="4065709" y="0"/>
                </a:lnTo>
                <a:lnTo>
                  <a:pt x="4065709" y="1182752"/>
                </a:lnTo>
                <a:lnTo>
                  <a:pt x="0" y="118275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 name="Freeform 18"/>
          <p:cNvSpPr/>
          <p:nvPr/>
        </p:nvSpPr>
        <p:spPr>
          <a:xfrm>
            <a:off x="16419360" y="2313478"/>
            <a:ext cx="4065709" cy="1182752"/>
          </a:xfrm>
          <a:custGeom>
            <a:avLst/>
            <a:gdLst/>
            <a:ahLst/>
            <a:cxnLst/>
            <a:rect l="l" t="t" r="r" b="b"/>
            <a:pathLst>
              <a:path w="4065709" h="1182752">
                <a:moveTo>
                  <a:pt x="0" y="0"/>
                </a:moveTo>
                <a:lnTo>
                  <a:pt x="4065710" y="0"/>
                </a:lnTo>
                <a:lnTo>
                  <a:pt x="4065710" y="1182752"/>
                </a:lnTo>
                <a:lnTo>
                  <a:pt x="0" y="118275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9" name="Freeform 19"/>
          <p:cNvSpPr/>
          <p:nvPr/>
        </p:nvSpPr>
        <p:spPr>
          <a:xfrm>
            <a:off x="-2474560" y="3267644"/>
            <a:ext cx="4065709" cy="1182752"/>
          </a:xfrm>
          <a:custGeom>
            <a:avLst/>
            <a:gdLst/>
            <a:ahLst/>
            <a:cxnLst/>
            <a:rect l="l" t="t" r="r" b="b"/>
            <a:pathLst>
              <a:path w="4065709" h="1182752">
                <a:moveTo>
                  <a:pt x="0" y="0"/>
                </a:moveTo>
                <a:lnTo>
                  <a:pt x="4065709" y="0"/>
                </a:lnTo>
                <a:lnTo>
                  <a:pt x="4065709" y="1182751"/>
                </a:lnTo>
                <a:lnTo>
                  <a:pt x="0" y="118275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0" name="Freeform 20"/>
          <p:cNvSpPr/>
          <p:nvPr/>
        </p:nvSpPr>
        <p:spPr>
          <a:xfrm>
            <a:off x="7176013" y="138796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1" name="Freeform 21"/>
          <p:cNvSpPr/>
          <p:nvPr/>
        </p:nvSpPr>
        <p:spPr>
          <a:xfrm>
            <a:off x="13565930" y="520445"/>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2" name="Freeform 22"/>
          <p:cNvSpPr/>
          <p:nvPr/>
        </p:nvSpPr>
        <p:spPr>
          <a:xfrm>
            <a:off x="464670" y="4253767"/>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3" name="Freeform 23"/>
          <p:cNvSpPr/>
          <p:nvPr/>
        </p:nvSpPr>
        <p:spPr>
          <a:xfrm>
            <a:off x="10911559" y="4276796"/>
            <a:ext cx="235742" cy="232742"/>
          </a:xfrm>
          <a:custGeom>
            <a:avLst/>
            <a:gdLst/>
            <a:ahLst/>
            <a:cxnLst/>
            <a:rect l="l" t="t" r="r" b="b"/>
            <a:pathLst>
              <a:path w="235742" h="232742">
                <a:moveTo>
                  <a:pt x="0" y="0"/>
                </a:moveTo>
                <a:lnTo>
                  <a:pt x="235742" y="0"/>
                </a:lnTo>
                <a:lnTo>
                  <a:pt x="235742" y="232742"/>
                </a:lnTo>
                <a:lnTo>
                  <a:pt x="0" y="23274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4" name="Freeform 24"/>
          <p:cNvSpPr/>
          <p:nvPr/>
        </p:nvSpPr>
        <p:spPr>
          <a:xfrm>
            <a:off x="15129772" y="-1118606"/>
            <a:ext cx="2542750" cy="2584359"/>
          </a:xfrm>
          <a:custGeom>
            <a:avLst/>
            <a:gdLst/>
            <a:ahLst/>
            <a:cxnLst/>
            <a:rect l="l" t="t" r="r" b="b"/>
            <a:pathLst>
              <a:path w="2542750" h="2584359">
                <a:moveTo>
                  <a:pt x="0" y="0"/>
                </a:moveTo>
                <a:lnTo>
                  <a:pt x="2542751" y="0"/>
                </a:lnTo>
                <a:lnTo>
                  <a:pt x="2542751" y="2584359"/>
                </a:lnTo>
                <a:lnTo>
                  <a:pt x="0" y="258435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25" name="Group 25"/>
          <p:cNvGrpSpPr/>
          <p:nvPr/>
        </p:nvGrpSpPr>
        <p:grpSpPr>
          <a:xfrm>
            <a:off x="378945" y="2279342"/>
            <a:ext cx="13394851" cy="1475207"/>
            <a:chOff x="0" y="0"/>
            <a:chExt cx="17859801" cy="1966942"/>
          </a:xfrm>
        </p:grpSpPr>
        <p:grpSp>
          <p:nvGrpSpPr>
            <p:cNvPr id="26" name="Group 26"/>
            <p:cNvGrpSpPr/>
            <p:nvPr/>
          </p:nvGrpSpPr>
          <p:grpSpPr>
            <a:xfrm>
              <a:off x="682549" y="0"/>
              <a:ext cx="17177252" cy="1966942"/>
              <a:chOff x="0" y="0"/>
              <a:chExt cx="9355802" cy="1071319"/>
            </a:xfrm>
          </p:grpSpPr>
          <p:sp>
            <p:nvSpPr>
              <p:cNvPr id="27" name="Freeform 27"/>
              <p:cNvSpPr/>
              <p:nvPr/>
            </p:nvSpPr>
            <p:spPr>
              <a:xfrm>
                <a:off x="0" y="0"/>
                <a:ext cx="9355802" cy="1071319"/>
              </a:xfrm>
              <a:custGeom>
                <a:avLst/>
                <a:gdLst/>
                <a:ahLst/>
                <a:cxnLst/>
                <a:rect l="l" t="t" r="r" b="b"/>
                <a:pathLst>
                  <a:path w="9355802" h="1071319">
                    <a:moveTo>
                      <a:pt x="0" y="892766"/>
                    </a:moveTo>
                    <a:lnTo>
                      <a:pt x="0" y="178553"/>
                    </a:lnTo>
                    <a:cubicBezTo>
                      <a:pt x="0" y="79992"/>
                      <a:pt x="419140" y="0"/>
                      <a:pt x="935580" y="0"/>
                    </a:cubicBezTo>
                    <a:lnTo>
                      <a:pt x="8420222" y="0"/>
                    </a:lnTo>
                    <a:cubicBezTo>
                      <a:pt x="8936662" y="0"/>
                      <a:pt x="9355802" y="79992"/>
                      <a:pt x="9355802" y="178553"/>
                    </a:cubicBezTo>
                    <a:lnTo>
                      <a:pt x="9355802" y="892766"/>
                    </a:lnTo>
                    <a:cubicBezTo>
                      <a:pt x="9355802" y="991327"/>
                      <a:pt x="8936662" y="1071319"/>
                      <a:pt x="8420222" y="1071319"/>
                    </a:cubicBezTo>
                    <a:lnTo>
                      <a:pt x="935580" y="1071319"/>
                    </a:lnTo>
                    <a:cubicBezTo>
                      <a:pt x="419140" y="1071319"/>
                      <a:pt x="0" y="991327"/>
                      <a:pt x="0" y="892766"/>
                    </a:cubicBezTo>
                    <a:close/>
                  </a:path>
                </a:pathLst>
              </a:custGeom>
              <a:solidFill>
                <a:srgbClr val="FFFFFF"/>
              </a:solidFill>
            </p:spPr>
          </p:sp>
        </p:grpSp>
        <p:sp>
          <p:nvSpPr>
            <p:cNvPr id="28" name="Freeform 28"/>
            <p:cNvSpPr/>
            <p:nvPr/>
          </p:nvSpPr>
          <p:spPr>
            <a:xfrm>
              <a:off x="0" y="242274"/>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9" name="TextBox 29"/>
            <p:cNvSpPr txBox="1"/>
            <p:nvPr/>
          </p:nvSpPr>
          <p:spPr>
            <a:xfrm>
              <a:off x="1616272" y="431251"/>
              <a:ext cx="12240134"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Weight-based instant naira payout immediately after every weight collection</a:t>
              </a:r>
            </a:p>
          </p:txBody>
        </p:sp>
      </p:grpSp>
      <p:grpSp>
        <p:nvGrpSpPr>
          <p:cNvPr id="30" name="Group 30"/>
          <p:cNvGrpSpPr/>
          <p:nvPr/>
        </p:nvGrpSpPr>
        <p:grpSpPr>
          <a:xfrm>
            <a:off x="324207" y="3879152"/>
            <a:ext cx="13413172" cy="1475207"/>
            <a:chOff x="0" y="0"/>
            <a:chExt cx="17884229" cy="1966942"/>
          </a:xfrm>
        </p:grpSpPr>
        <p:grpSp>
          <p:nvGrpSpPr>
            <p:cNvPr id="31" name="Group 31"/>
            <p:cNvGrpSpPr/>
            <p:nvPr/>
          </p:nvGrpSpPr>
          <p:grpSpPr>
            <a:xfrm>
              <a:off x="728497" y="0"/>
              <a:ext cx="17155732" cy="1966942"/>
              <a:chOff x="0" y="0"/>
              <a:chExt cx="9344081" cy="1071319"/>
            </a:xfrm>
          </p:grpSpPr>
          <p:sp>
            <p:nvSpPr>
              <p:cNvPr id="32" name="Freeform 32"/>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33" name="Freeform 33"/>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4" name="TextBox 34"/>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Loyalty points that can be redeemed for mobile airtime, promoting repeat use</a:t>
              </a:r>
            </a:p>
          </p:txBody>
        </p:sp>
      </p:grpSp>
      <p:grpSp>
        <p:nvGrpSpPr>
          <p:cNvPr id="35" name="Group 35"/>
          <p:cNvGrpSpPr/>
          <p:nvPr/>
        </p:nvGrpSpPr>
        <p:grpSpPr>
          <a:xfrm>
            <a:off x="324207" y="5478184"/>
            <a:ext cx="13413172" cy="1475207"/>
            <a:chOff x="0" y="0"/>
            <a:chExt cx="17884229" cy="1966942"/>
          </a:xfrm>
        </p:grpSpPr>
        <p:grpSp>
          <p:nvGrpSpPr>
            <p:cNvPr id="36" name="Group 36"/>
            <p:cNvGrpSpPr/>
            <p:nvPr/>
          </p:nvGrpSpPr>
          <p:grpSpPr>
            <a:xfrm>
              <a:off x="728497" y="0"/>
              <a:ext cx="17155732" cy="1966942"/>
              <a:chOff x="0" y="0"/>
              <a:chExt cx="9344081" cy="1071319"/>
            </a:xfrm>
          </p:grpSpPr>
          <p:sp>
            <p:nvSpPr>
              <p:cNvPr id="37" name="Freeform 37"/>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38" name="Freeform 38"/>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9" name="TextBox 39"/>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Instant weight measurement of materials shown on the app after each pickup</a:t>
              </a:r>
            </a:p>
          </p:txBody>
        </p:sp>
      </p:grpSp>
      <p:grpSp>
        <p:nvGrpSpPr>
          <p:cNvPr id="40" name="Group 40"/>
          <p:cNvGrpSpPr/>
          <p:nvPr/>
        </p:nvGrpSpPr>
        <p:grpSpPr>
          <a:xfrm>
            <a:off x="369785" y="7058166"/>
            <a:ext cx="13413172" cy="1475207"/>
            <a:chOff x="0" y="0"/>
            <a:chExt cx="17884229" cy="1966942"/>
          </a:xfrm>
        </p:grpSpPr>
        <p:grpSp>
          <p:nvGrpSpPr>
            <p:cNvPr id="41" name="Group 41"/>
            <p:cNvGrpSpPr/>
            <p:nvPr/>
          </p:nvGrpSpPr>
          <p:grpSpPr>
            <a:xfrm>
              <a:off x="728497" y="0"/>
              <a:ext cx="17155732" cy="1966942"/>
              <a:chOff x="0" y="0"/>
              <a:chExt cx="9344081" cy="1071319"/>
            </a:xfrm>
          </p:grpSpPr>
          <p:sp>
            <p:nvSpPr>
              <p:cNvPr id="42" name="Freeform 42"/>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43" name="Freeform 43"/>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4" name="TextBox 44"/>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Monthly recycling reports indicating environmental impact (kg diverted from landfill)</a:t>
              </a:r>
            </a:p>
          </p:txBody>
        </p:sp>
      </p:grpSp>
      <p:grpSp>
        <p:nvGrpSpPr>
          <p:cNvPr id="45" name="Group 45"/>
          <p:cNvGrpSpPr/>
          <p:nvPr/>
        </p:nvGrpSpPr>
        <p:grpSpPr>
          <a:xfrm>
            <a:off x="464670" y="8657197"/>
            <a:ext cx="13413172" cy="1475207"/>
            <a:chOff x="0" y="0"/>
            <a:chExt cx="17884229" cy="1966942"/>
          </a:xfrm>
        </p:grpSpPr>
        <p:grpSp>
          <p:nvGrpSpPr>
            <p:cNvPr id="46" name="Group 46"/>
            <p:cNvGrpSpPr/>
            <p:nvPr/>
          </p:nvGrpSpPr>
          <p:grpSpPr>
            <a:xfrm>
              <a:off x="728497" y="0"/>
              <a:ext cx="17155732" cy="1966942"/>
              <a:chOff x="0" y="0"/>
              <a:chExt cx="9344081" cy="1071319"/>
            </a:xfrm>
          </p:grpSpPr>
          <p:sp>
            <p:nvSpPr>
              <p:cNvPr id="47" name="Freeform 47"/>
              <p:cNvSpPr/>
              <p:nvPr/>
            </p:nvSpPr>
            <p:spPr>
              <a:xfrm>
                <a:off x="0" y="0"/>
                <a:ext cx="9344081" cy="1071319"/>
              </a:xfrm>
              <a:custGeom>
                <a:avLst/>
                <a:gdLst/>
                <a:ahLst/>
                <a:cxnLst/>
                <a:rect l="l" t="t" r="r" b="b"/>
                <a:pathLst>
                  <a:path w="9344081" h="1071319">
                    <a:moveTo>
                      <a:pt x="0" y="892766"/>
                    </a:moveTo>
                    <a:lnTo>
                      <a:pt x="0" y="178553"/>
                    </a:lnTo>
                    <a:cubicBezTo>
                      <a:pt x="0" y="79992"/>
                      <a:pt x="418615" y="0"/>
                      <a:pt x="934408" y="0"/>
                    </a:cubicBezTo>
                    <a:lnTo>
                      <a:pt x="8409673" y="0"/>
                    </a:lnTo>
                    <a:cubicBezTo>
                      <a:pt x="8925466" y="0"/>
                      <a:pt x="9344081" y="79992"/>
                      <a:pt x="9344081" y="178553"/>
                    </a:cubicBezTo>
                    <a:lnTo>
                      <a:pt x="9344081" y="892766"/>
                    </a:lnTo>
                    <a:cubicBezTo>
                      <a:pt x="9344081" y="991327"/>
                      <a:pt x="8925466" y="1071319"/>
                      <a:pt x="8409673" y="1071319"/>
                    </a:cubicBezTo>
                    <a:lnTo>
                      <a:pt x="934408" y="1071319"/>
                    </a:lnTo>
                    <a:cubicBezTo>
                      <a:pt x="418615" y="1071319"/>
                      <a:pt x="0" y="991327"/>
                      <a:pt x="0" y="892766"/>
                    </a:cubicBezTo>
                    <a:close/>
                  </a:path>
                </a:pathLst>
              </a:custGeom>
              <a:solidFill>
                <a:srgbClr val="FFFFFF"/>
              </a:solidFill>
            </p:spPr>
          </p:sp>
        </p:grpSp>
        <p:sp>
          <p:nvSpPr>
            <p:cNvPr id="48" name="Freeform 48"/>
            <p:cNvSpPr/>
            <p:nvPr/>
          </p:nvSpPr>
          <p:spPr>
            <a:xfrm>
              <a:off x="0" y="284202"/>
              <a:ext cx="1456994" cy="1456994"/>
            </a:xfrm>
            <a:custGeom>
              <a:avLst/>
              <a:gdLst/>
              <a:ahLst/>
              <a:cxnLst/>
              <a:rect l="l" t="t" r="r" b="b"/>
              <a:pathLst>
                <a:path w="1456994" h="1456994">
                  <a:moveTo>
                    <a:pt x="0" y="0"/>
                  </a:moveTo>
                  <a:lnTo>
                    <a:pt x="1456994" y="0"/>
                  </a:lnTo>
                  <a:lnTo>
                    <a:pt x="1456994" y="1456994"/>
                  </a:lnTo>
                  <a:lnTo>
                    <a:pt x="0" y="1456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9" name="TextBox 49"/>
            <p:cNvSpPr txBox="1"/>
            <p:nvPr/>
          </p:nvSpPr>
          <p:spPr>
            <a:xfrm>
              <a:off x="1662220" y="431251"/>
              <a:ext cx="12386050" cy="1162712"/>
            </a:xfrm>
            <a:prstGeom prst="rect">
              <a:avLst/>
            </a:prstGeom>
          </p:spPr>
          <p:txBody>
            <a:bodyPr lIns="0" tIns="0" rIns="0" bIns="0" rtlCol="0" anchor="t">
              <a:spAutoFit/>
            </a:bodyPr>
            <a:lstStyle/>
            <a:p>
              <a:pPr>
                <a:lnSpc>
                  <a:spcPts val="3399"/>
                </a:lnSpc>
              </a:pPr>
              <a:r>
                <a:rPr lang="en-US" sz="3399" dirty="0">
                  <a:solidFill>
                    <a:srgbClr val="01654F"/>
                  </a:solidFill>
                  <a:latin typeface="Times New Roman"/>
                  <a:ea typeface="Times New Roman"/>
                  <a:cs typeface="Times New Roman"/>
                  <a:sym typeface="Times New Roman"/>
                </a:rPr>
                <a:t>Reward for regular recycling item with a recognition badge inside the app.</a:t>
              </a:r>
            </a:p>
          </p:txBody>
        </p:sp>
      </p:grpSp>
      <p:sp>
        <p:nvSpPr>
          <p:cNvPr id="50" name="Freeform 50"/>
          <p:cNvSpPr/>
          <p:nvPr/>
        </p:nvSpPr>
        <p:spPr>
          <a:xfrm>
            <a:off x="11367232" y="2456376"/>
            <a:ext cx="1784516" cy="1146552"/>
          </a:xfrm>
          <a:custGeom>
            <a:avLst/>
            <a:gdLst/>
            <a:ahLst/>
            <a:cxnLst/>
            <a:rect l="l" t="t" r="r" b="b"/>
            <a:pathLst>
              <a:path w="1784516" h="1146552">
                <a:moveTo>
                  <a:pt x="0" y="0"/>
                </a:moveTo>
                <a:lnTo>
                  <a:pt x="1784516" y="0"/>
                </a:lnTo>
                <a:lnTo>
                  <a:pt x="1784516" y="1146551"/>
                </a:lnTo>
                <a:lnTo>
                  <a:pt x="0" y="1146551"/>
                </a:lnTo>
                <a:lnTo>
                  <a:pt x="0" y="0"/>
                </a:lnTo>
                <a:close/>
              </a:path>
            </a:pathLst>
          </a:custGeom>
          <a:blipFill>
            <a:blip r:embed="rId17"/>
            <a:stretch>
              <a:fillRect/>
            </a:stretch>
          </a:blipFill>
        </p:spPr>
      </p:sp>
      <p:sp>
        <p:nvSpPr>
          <p:cNvPr id="51" name="Freeform 51"/>
          <p:cNvSpPr/>
          <p:nvPr/>
        </p:nvSpPr>
        <p:spPr>
          <a:xfrm>
            <a:off x="12612715" y="4044417"/>
            <a:ext cx="655639" cy="1157542"/>
          </a:xfrm>
          <a:custGeom>
            <a:avLst/>
            <a:gdLst/>
            <a:ahLst/>
            <a:cxnLst/>
            <a:rect l="l" t="t" r="r" b="b"/>
            <a:pathLst>
              <a:path w="655639" h="1157542">
                <a:moveTo>
                  <a:pt x="0" y="0"/>
                </a:moveTo>
                <a:lnTo>
                  <a:pt x="655639" y="0"/>
                </a:lnTo>
                <a:lnTo>
                  <a:pt x="655639" y="1157542"/>
                </a:lnTo>
                <a:lnTo>
                  <a:pt x="0" y="1157542"/>
                </a:lnTo>
                <a:lnTo>
                  <a:pt x="0" y="0"/>
                </a:lnTo>
                <a:close/>
              </a:path>
            </a:pathLst>
          </a:custGeom>
          <a:blipFill>
            <a:blip r:embed="rId18"/>
            <a:stretch>
              <a:fillRect/>
            </a:stretch>
          </a:blipFill>
        </p:spPr>
      </p:sp>
      <p:sp>
        <p:nvSpPr>
          <p:cNvPr id="52" name="Freeform 52"/>
          <p:cNvSpPr/>
          <p:nvPr/>
        </p:nvSpPr>
        <p:spPr>
          <a:xfrm>
            <a:off x="12270911" y="7275536"/>
            <a:ext cx="1167796" cy="964892"/>
          </a:xfrm>
          <a:custGeom>
            <a:avLst/>
            <a:gdLst/>
            <a:ahLst/>
            <a:cxnLst/>
            <a:rect l="l" t="t" r="r" b="b"/>
            <a:pathLst>
              <a:path w="1167796" h="964892">
                <a:moveTo>
                  <a:pt x="0" y="0"/>
                </a:moveTo>
                <a:lnTo>
                  <a:pt x="1167797" y="0"/>
                </a:lnTo>
                <a:lnTo>
                  <a:pt x="1167797" y="964892"/>
                </a:lnTo>
                <a:lnTo>
                  <a:pt x="0" y="964892"/>
                </a:lnTo>
                <a:lnTo>
                  <a:pt x="0" y="0"/>
                </a:lnTo>
                <a:close/>
              </a:path>
            </a:pathLst>
          </a:custGeom>
          <a:blipFill>
            <a:blip r:embed="rId19"/>
            <a:stretch>
              <a:fillRect/>
            </a:stretch>
          </a:blipFill>
        </p:spPr>
      </p:sp>
      <p:sp>
        <p:nvSpPr>
          <p:cNvPr id="53" name="Freeform 53"/>
          <p:cNvSpPr/>
          <p:nvPr/>
        </p:nvSpPr>
        <p:spPr>
          <a:xfrm>
            <a:off x="12676339" y="8790547"/>
            <a:ext cx="935071" cy="1179561"/>
          </a:xfrm>
          <a:custGeom>
            <a:avLst/>
            <a:gdLst/>
            <a:ahLst/>
            <a:cxnLst/>
            <a:rect l="l" t="t" r="r" b="b"/>
            <a:pathLst>
              <a:path w="935071" h="1179561">
                <a:moveTo>
                  <a:pt x="0" y="0"/>
                </a:moveTo>
                <a:lnTo>
                  <a:pt x="935071" y="0"/>
                </a:lnTo>
                <a:lnTo>
                  <a:pt x="935071" y="1179562"/>
                </a:lnTo>
                <a:lnTo>
                  <a:pt x="0" y="117956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54" name="Freeform 54"/>
          <p:cNvSpPr/>
          <p:nvPr/>
        </p:nvSpPr>
        <p:spPr>
          <a:xfrm>
            <a:off x="12172711" y="5573369"/>
            <a:ext cx="1116893" cy="1098616"/>
          </a:xfrm>
          <a:custGeom>
            <a:avLst/>
            <a:gdLst/>
            <a:ahLst/>
            <a:cxnLst/>
            <a:rect l="l" t="t" r="r" b="b"/>
            <a:pathLst>
              <a:path w="1116893" h="1098616">
                <a:moveTo>
                  <a:pt x="0" y="0"/>
                </a:moveTo>
                <a:lnTo>
                  <a:pt x="1116893" y="0"/>
                </a:lnTo>
                <a:lnTo>
                  <a:pt x="1116893" y="1098617"/>
                </a:lnTo>
                <a:lnTo>
                  <a:pt x="0" y="109861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55" name="Freeform 55"/>
          <p:cNvSpPr/>
          <p:nvPr/>
        </p:nvSpPr>
        <p:spPr>
          <a:xfrm>
            <a:off x="14288555" y="5143500"/>
            <a:ext cx="3680876" cy="4114800"/>
          </a:xfrm>
          <a:custGeom>
            <a:avLst/>
            <a:gdLst/>
            <a:ahLst/>
            <a:cxnLst/>
            <a:rect l="l" t="t" r="r" b="b"/>
            <a:pathLst>
              <a:path w="3680876" h="4114800">
                <a:moveTo>
                  <a:pt x="0" y="0"/>
                </a:moveTo>
                <a:lnTo>
                  <a:pt x="3680876" y="0"/>
                </a:lnTo>
                <a:lnTo>
                  <a:pt x="3680876"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grpSp>
        <p:nvGrpSpPr>
          <p:cNvPr id="56" name="Group 56"/>
          <p:cNvGrpSpPr/>
          <p:nvPr/>
        </p:nvGrpSpPr>
        <p:grpSpPr>
          <a:xfrm>
            <a:off x="745339" y="310344"/>
            <a:ext cx="4670373" cy="958315"/>
            <a:chOff x="0" y="0"/>
            <a:chExt cx="6227165" cy="1277753"/>
          </a:xfrm>
        </p:grpSpPr>
        <p:sp>
          <p:nvSpPr>
            <p:cNvPr id="57" name="TextBox 57"/>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58" name="Freeform 58"/>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26"/>
              <a:stretch>
                <a:fillRect/>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4488017" y="9552486"/>
            <a:ext cx="16099503" cy="9907199"/>
            <a:chOff x="0" y="0"/>
            <a:chExt cx="4240198" cy="2609303"/>
          </a:xfrm>
        </p:grpSpPr>
        <p:sp>
          <p:nvSpPr>
            <p:cNvPr id="3" name="Freeform 3"/>
            <p:cNvSpPr/>
            <p:nvPr/>
          </p:nvSpPr>
          <p:spPr>
            <a:xfrm>
              <a:off x="0" y="0"/>
              <a:ext cx="4240198" cy="2609304"/>
            </a:xfrm>
            <a:custGeom>
              <a:avLst/>
              <a:gdLst/>
              <a:ahLst/>
              <a:cxnLst/>
              <a:rect l="l" t="t" r="r" b="b"/>
              <a:pathLst>
                <a:path w="4240198" h="2609304">
                  <a:moveTo>
                    <a:pt x="2120099" y="0"/>
                  </a:moveTo>
                  <a:cubicBezTo>
                    <a:pt x="949201" y="0"/>
                    <a:pt x="0" y="584112"/>
                    <a:pt x="0" y="1304652"/>
                  </a:cubicBezTo>
                  <a:cubicBezTo>
                    <a:pt x="0" y="2025191"/>
                    <a:pt x="949201" y="2609304"/>
                    <a:pt x="2120099" y="2609304"/>
                  </a:cubicBezTo>
                  <a:cubicBezTo>
                    <a:pt x="3290998" y="2609304"/>
                    <a:pt x="4240198" y="2025191"/>
                    <a:pt x="4240198" y="1304652"/>
                  </a:cubicBezTo>
                  <a:cubicBezTo>
                    <a:pt x="4240198" y="584112"/>
                    <a:pt x="3290998" y="0"/>
                    <a:pt x="2120099" y="0"/>
                  </a:cubicBezTo>
                  <a:close/>
                </a:path>
              </a:pathLst>
            </a:custGeom>
            <a:gradFill rotWithShape="1">
              <a:gsLst>
                <a:gs pos="0">
                  <a:srgbClr val="23AC3A">
                    <a:alpha val="100000"/>
                  </a:srgbClr>
                </a:gs>
                <a:gs pos="100000">
                  <a:srgbClr val="81CC7D">
                    <a:alpha val="100000"/>
                  </a:srgbClr>
                </a:gs>
              </a:gsLst>
              <a:lin ang="5400000"/>
            </a:gradFill>
          </p:spPr>
        </p:sp>
        <p:sp>
          <p:nvSpPr>
            <p:cNvPr id="4" name="TextBox 4"/>
            <p:cNvSpPr txBox="1"/>
            <p:nvPr/>
          </p:nvSpPr>
          <p:spPr>
            <a:xfrm>
              <a:off x="397519" y="206522"/>
              <a:ext cx="3445161" cy="2158159"/>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flipH="1">
            <a:off x="14771542" y="8523786"/>
            <a:ext cx="1887770" cy="1469029"/>
          </a:xfrm>
          <a:custGeom>
            <a:avLst/>
            <a:gdLst/>
            <a:ahLst/>
            <a:cxnLst/>
            <a:rect l="l" t="t" r="r" b="b"/>
            <a:pathLst>
              <a:path w="1887770" h="1469029">
                <a:moveTo>
                  <a:pt x="1887771" y="0"/>
                </a:moveTo>
                <a:lnTo>
                  <a:pt x="0" y="0"/>
                </a:lnTo>
                <a:lnTo>
                  <a:pt x="0" y="1469028"/>
                </a:lnTo>
                <a:lnTo>
                  <a:pt x="1887771" y="1469028"/>
                </a:lnTo>
                <a:lnTo>
                  <a:pt x="1887771"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625236" y="3652604"/>
            <a:ext cx="12791212" cy="2965940"/>
          </a:xfrm>
          <a:prstGeom prst="rect">
            <a:avLst/>
          </a:prstGeom>
        </p:spPr>
        <p:txBody>
          <a:bodyPr lIns="0" tIns="0" rIns="0" bIns="0" rtlCol="0" anchor="t">
            <a:spAutoFit/>
          </a:bodyPr>
          <a:lstStyle/>
          <a:p>
            <a:pPr marL="647700" lvl="1" indent="-323850">
              <a:lnSpc>
                <a:spcPts val="3900"/>
              </a:lnSpc>
              <a:buFont typeface="Arial"/>
              <a:buChar char="•"/>
            </a:pPr>
            <a:r>
              <a:rPr lang="en-US" sz="3000" dirty="0">
                <a:solidFill>
                  <a:srgbClr val="3D7366"/>
                </a:solidFill>
                <a:latin typeface="Times New Roman"/>
                <a:ea typeface="Times New Roman"/>
                <a:cs typeface="Times New Roman"/>
                <a:sym typeface="Times New Roman"/>
              </a:rPr>
              <a:t>Ensuring smooth integration of informal waste collectors without inducing channel conflicts or resistance, since they dominate the waste collection in Lagos and can see the platform as a threat to their livelihoods.</a:t>
            </a:r>
          </a:p>
          <a:p>
            <a:pPr marL="647700" lvl="1" indent="-323850">
              <a:lnSpc>
                <a:spcPts val="3900"/>
              </a:lnSpc>
              <a:buFont typeface="Arial"/>
              <a:buChar char="•"/>
            </a:pPr>
            <a:r>
              <a:rPr lang="en-US" sz="3000" dirty="0">
                <a:solidFill>
                  <a:srgbClr val="3D7366"/>
                </a:solidFill>
                <a:latin typeface="Times New Roman"/>
                <a:ea typeface="Times New Roman"/>
                <a:cs typeface="Times New Roman"/>
                <a:sym typeface="Times New Roman"/>
              </a:rPr>
              <a:t>Ensuring regular user involvement in a price-sensitive market where convenience and cost outweigh environmental considerations for decision making</a:t>
            </a:r>
          </a:p>
        </p:txBody>
      </p:sp>
      <p:sp>
        <p:nvSpPr>
          <p:cNvPr id="7" name="Freeform 7"/>
          <p:cNvSpPr/>
          <p:nvPr/>
        </p:nvSpPr>
        <p:spPr>
          <a:xfrm>
            <a:off x="16659313" y="7724434"/>
            <a:ext cx="1628687" cy="3067733"/>
          </a:xfrm>
          <a:custGeom>
            <a:avLst/>
            <a:gdLst/>
            <a:ahLst/>
            <a:cxnLst/>
            <a:rect l="l" t="t" r="r" b="b"/>
            <a:pathLst>
              <a:path w="1628687" h="3067733">
                <a:moveTo>
                  <a:pt x="0" y="0"/>
                </a:moveTo>
                <a:lnTo>
                  <a:pt x="1628687" y="0"/>
                </a:lnTo>
                <a:lnTo>
                  <a:pt x="1628687" y="3067732"/>
                </a:lnTo>
                <a:lnTo>
                  <a:pt x="0" y="30677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746840" y="8711254"/>
            <a:ext cx="2744154" cy="2135450"/>
          </a:xfrm>
          <a:custGeom>
            <a:avLst/>
            <a:gdLst/>
            <a:ahLst/>
            <a:cxnLst/>
            <a:rect l="l" t="t" r="r" b="b"/>
            <a:pathLst>
              <a:path w="2744154" h="2135450">
                <a:moveTo>
                  <a:pt x="0" y="0"/>
                </a:moveTo>
                <a:lnTo>
                  <a:pt x="2744153" y="0"/>
                </a:lnTo>
                <a:lnTo>
                  <a:pt x="2744153" y="2135450"/>
                </a:lnTo>
                <a:lnTo>
                  <a:pt x="0" y="21354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978259" y="1719022"/>
            <a:ext cx="6042583" cy="780422"/>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Conclusion</a:t>
            </a:r>
          </a:p>
        </p:txBody>
      </p:sp>
      <p:sp>
        <p:nvSpPr>
          <p:cNvPr id="10" name="Freeform 10"/>
          <p:cNvSpPr/>
          <p:nvPr/>
        </p:nvSpPr>
        <p:spPr>
          <a:xfrm>
            <a:off x="7407039" y="857531"/>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Freeform 11"/>
          <p:cNvSpPr/>
          <p:nvPr/>
        </p:nvSpPr>
        <p:spPr>
          <a:xfrm>
            <a:off x="17259300" y="2216150"/>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TextBox 12"/>
          <p:cNvSpPr txBox="1"/>
          <p:nvPr/>
        </p:nvSpPr>
        <p:spPr>
          <a:xfrm>
            <a:off x="1028700" y="2999182"/>
            <a:ext cx="7606168" cy="710572"/>
          </a:xfrm>
          <a:prstGeom prst="rect">
            <a:avLst/>
          </a:prstGeom>
        </p:spPr>
        <p:txBody>
          <a:bodyPr lIns="0" tIns="0" rIns="0" bIns="0" rtlCol="0" anchor="t">
            <a:spAutoFit/>
          </a:bodyPr>
          <a:lstStyle/>
          <a:p>
            <a:pPr algn="l">
              <a:lnSpc>
                <a:spcPts val="5100"/>
              </a:lnSpc>
            </a:pPr>
            <a:r>
              <a:rPr lang="en-US" sz="5100" b="1">
                <a:solidFill>
                  <a:srgbClr val="01654F"/>
                </a:solidFill>
                <a:latin typeface="Times New Roman Bold"/>
                <a:ea typeface="Times New Roman Bold"/>
                <a:cs typeface="Times New Roman Bold"/>
                <a:sym typeface="Times New Roman Bold"/>
              </a:rPr>
              <a:t>Two Greatest Challenges</a:t>
            </a:r>
          </a:p>
        </p:txBody>
      </p:sp>
      <p:sp>
        <p:nvSpPr>
          <p:cNvPr id="13" name="TextBox 13"/>
          <p:cNvSpPr txBox="1"/>
          <p:nvPr/>
        </p:nvSpPr>
        <p:spPr>
          <a:xfrm>
            <a:off x="1028700" y="6624485"/>
            <a:ext cx="7606168" cy="710572"/>
          </a:xfrm>
          <a:prstGeom prst="rect">
            <a:avLst/>
          </a:prstGeom>
        </p:spPr>
        <p:txBody>
          <a:bodyPr lIns="0" tIns="0" rIns="0" bIns="0" rtlCol="0" anchor="t">
            <a:spAutoFit/>
          </a:bodyPr>
          <a:lstStyle/>
          <a:p>
            <a:pPr algn="l">
              <a:lnSpc>
                <a:spcPts val="5100"/>
              </a:lnSpc>
            </a:pPr>
            <a:r>
              <a:rPr lang="en-US" sz="5100" b="1" dirty="0">
                <a:solidFill>
                  <a:srgbClr val="01654F"/>
                </a:solidFill>
                <a:latin typeface="Times New Roman Bold"/>
                <a:ea typeface="Times New Roman Bold"/>
                <a:cs typeface="Times New Roman Bold"/>
                <a:sym typeface="Times New Roman Bold"/>
              </a:rPr>
              <a:t>Two Greatest Challenges</a:t>
            </a:r>
          </a:p>
        </p:txBody>
      </p:sp>
      <p:sp>
        <p:nvSpPr>
          <p:cNvPr id="14" name="TextBox 14"/>
          <p:cNvSpPr txBox="1"/>
          <p:nvPr/>
        </p:nvSpPr>
        <p:spPr>
          <a:xfrm>
            <a:off x="625236" y="7283429"/>
            <a:ext cx="12791212" cy="2495550"/>
          </a:xfrm>
          <a:prstGeom prst="rect">
            <a:avLst/>
          </a:prstGeom>
        </p:spPr>
        <p:txBody>
          <a:bodyPr lIns="0" tIns="0" rIns="0" bIns="0" rtlCol="0" anchor="t">
            <a:spAutoFit/>
          </a:bodyPr>
          <a:lstStyle/>
          <a:p>
            <a:pPr marL="647700" lvl="1" indent="-323850">
              <a:lnSpc>
                <a:spcPts val="3900"/>
              </a:lnSpc>
              <a:buFont typeface="Arial"/>
              <a:buChar char="•"/>
            </a:pPr>
            <a:r>
              <a:rPr lang="en-US" sz="3000" dirty="0">
                <a:solidFill>
                  <a:srgbClr val="3D7366"/>
                </a:solidFill>
                <a:latin typeface="Times New Roman"/>
                <a:ea typeface="Times New Roman"/>
                <a:cs typeface="Times New Roman"/>
                <a:sym typeface="Times New Roman"/>
              </a:rPr>
              <a:t>Engage in stakeholder dialogue to foster trust and partnerships with informal collectors while avoiding their displacement</a:t>
            </a:r>
          </a:p>
          <a:p>
            <a:pPr marL="647700" lvl="1" indent="-323850">
              <a:lnSpc>
                <a:spcPts val="3900"/>
              </a:lnSpc>
              <a:buFont typeface="Arial"/>
              <a:buChar char="•"/>
            </a:pPr>
            <a:r>
              <a:rPr lang="en-US" sz="3000" dirty="0">
                <a:solidFill>
                  <a:srgbClr val="3D7366"/>
                </a:solidFill>
                <a:latin typeface="Times New Roman"/>
                <a:ea typeface="Times New Roman"/>
                <a:cs typeface="Times New Roman"/>
                <a:sym typeface="Times New Roman"/>
              </a:rPr>
              <a:t>Data analytics to track waste diversion metrics and user </a:t>
            </a:r>
            <a:r>
              <a:rPr lang="en-US" sz="3000" dirty="0" err="1">
                <a:solidFill>
                  <a:srgbClr val="3D7366"/>
                </a:solidFill>
                <a:latin typeface="Times New Roman"/>
                <a:ea typeface="Times New Roman"/>
                <a:cs typeface="Times New Roman"/>
                <a:sym typeface="Times New Roman"/>
              </a:rPr>
              <a:t>behaviour</a:t>
            </a:r>
            <a:r>
              <a:rPr lang="en-US" sz="3000" dirty="0">
                <a:solidFill>
                  <a:srgbClr val="3D7366"/>
                </a:solidFill>
                <a:latin typeface="Times New Roman"/>
                <a:ea typeface="Times New Roman"/>
                <a:cs typeface="Times New Roman"/>
                <a:sym typeface="Times New Roman"/>
              </a:rPr>
              <a:t>, enabling evidence-based decisions for improving retention and participation rates</a:t>
            </a:r>
          </a:p>
          <a:p>
            <a:pPr algn="l">
              <a:lnSpc>
                <a:spcPts val="3900"/>
              </a:lnSpc>
            </a:pPr>
            <a:endParaRPr lang="en-US" sz="3000" dirty="0">
              <a:solidFill>
                <a:srgbClr val="3D7366"/>
              </a:solidFill>
              <a:latin typeface="Times New Roman"/>
              <a:ea typeface="Times New Roman"/>
              <a:cs typeface="Times New Roman"/>
              <a:sym typeface="Times New Roman"/>
            </a:endParaRPr>
          </a:p>
        </p:txBody>
      </p:sp>
      <p:grpSp>
        <p:nvGrpSpPr>
          <p:cNvPr id="15" name="Group 15"/>
          <p:cNvGrpSpPr/>
          <p:nvPr/>
        </p:nvGrpSpPr>
        <p:grpSpPr>
          <a:xfrm>
            <a:off x="745339" y="310344"/>
            <a:ext cx="4670373" cy="958315"/>
            <a:chOff x="0" y="0"/>
            <a:chExt cx="6227165" cy="1277753"/>
          </a:xfrm>
        </p:grpSpPr>
        <p:sp>
          <p:nvSpPr>
            <p:cNvPr id="16" name="TextBox 16"/>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17" name="Freeform 17"/>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11"/>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D3EDFA">
                <a:alpha val="100000"/>
              </a:srgbClr>
            </a:gs>
            <a:gs pos="100000">
              <a:srgbClr val="F1F8FE">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8099482" y="4655829"/>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526235" y="650384"/>
            <a:ext cx="346752" cy="342339"/>
          </a:xfrm>
          <a:custGeom>
            <a:avLst/>
            <a:gdLst/>
            <a:ahLst/>
            <a:cxnLst/>
            <a:rect l="l" t="t" r="r" b="b"/>
            <a:pathLst>
              <a:path w="346752" h="342339">
                <a:moveTo>
                  <a:pt x="0" y="0"/>
                </a:moveTo>
                <a:lnTo>
                  <a:pt x="346752" y="0"/>
                </a:lnTo>
                <a:lnTo>
                  <a:pt x="346752" y="342338"/>
                </a:lnTo>
                <a:lnTo>
                  <a:pt x="0" y="3423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513705" y="1225979"/>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7444430" y="3554356"/>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561651" y="686361"/>
            <a:ext cx="346752" cy="342339"/>
          </a:xfrm>
          <a:custGeom>
            <a:avLst/>
            <a:gdLst/>
            <a:ahLst/>
            <a:cxnLst/>
            <a:rect l="l" t="t" r="r" b="b"/>
            <a:pathLst>
              <a:path w="346752" h="342339">
                <a:moveTo>
                  <a:pt x="0" y="0"/>
                </a:moveTo>
                <a:lnTo>
                  <a:pt x="346752" y="0"/>
                </a:lnTo>
                <a:lnTo>
                  <a:pt x="346752" y="342339"/>
                </a:lnTo>
                <a:lnTo>
                  <a:pt x="0" y="3423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6411011" y="-1133883"/>
            <a:ext cx="3285501" cy="3339264"/>
          </a:xfrm>
          <a:custGeom>
            <a:avLst/>
            <a:gdLst/>
            <a:ahLst/>
            <a:cxnLst/>
            <a:rect l="l" t="t" r="r" b="b"/>
            <a:pathLst>
              <a:path w="3285501" h="3339264">
                <a:moveTo>
                  <a:pt x="0" y="0"/>
                </a:moveTo>
                <a:lnTo>
                  <a:pt x="3285501" y="0"/>
                </a:lnTo>
                <a:lnTo>
                  <a:pt x="3285501" y="3339263"/>
                </a:lnTo>
                <a:lnTo>
                  <a:pt x="0" y="33392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936135" y="1978034"/>
            <a:ext cx="16415730" cy="7037070"/>
          </a:xfrm>
          <a:prstGeom prst="rect">
            <a:avLst/>
          </a:prstGeom>
        </p:spPr>
        <p:txBody>
          <a:bodyPr lIns="0" tIns="0" rIns="0" bIns="0" rtlCol="0" anchor="t">
            <a:spAutoFit/>
          </a:bodyPr>
          <a:lstStyle/>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Etim, E. (2024). Bridging the gap: Transforming waste management awareness into action. Cleaner Waste Systems, [online] 9(0), p.100173. </a:t>
            </a:r>
            <a:r>
              <a:rPr lang="en-US" sz="2400" u="sng">
                <a:solidFill>
                  <a:srgbClr val="3D7366"/>
                </a:solidFill>
                <a:latin typeface="Times New Roman"/>
                <a:ea typeface="Times New Roman"/>
                <a:cs typeface="Times New Roman"/>
                <a:sym typeface="Times New Roman"/>
                <a:hlinkClick r:id="rId6" tooltip="https://doi.org/10.1016/j.clwas.2024.100173"/>
              </a:rPr>
              <a:t>https://doi.org/10.1016/j.clwas.2024.100173</a:t>
            </a:r>
            <a:r>
              <a:rPr lang="en-US" sz="2400">
                <a:solidFill>
                  <a:srgbClr val="3D7366"/>
                </a:solidFill>
                <a:latin typeface="Times New Roman"/>
                <a:ea typeface="Times New Roman"/>
                <a:cs typeface="Times New Roman"/>
                <a:sym typeface="Times New Roman"/>
              </a:rPr>
              <a:t>. </a:t>
            </a:r>
          </a:p>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Faiz, F., Le, V. and Masli, E.K. (2024). Determinants of digital technology adoption in innovative SMEs. Journal of Innovation &amp; Knowledge, [online] 9(4), p.100610. </a:t>
            </a:r>
            <a:r>
              <a:rPr lang="en-US" sz="2400" u="sng">
                <a:solidFill>
                  <a:srgbClr val="3D7366"/>
                </a:solidFill>
                <a:latin typeface="Times New Roman"/>
                <a:ea typeface="Times New Roman"/>
                <a:cs typeface="Times New Roman"/>
                <a:sym typeface="Times New Roman"/>
                <a:hlinkClick r:id="rId7" tooltip="https://doi.org/10.1016/j.jik.2024.100610"/>
              </a:rPr>
              <a:t>https://doi.org/10.1016/j.jik.2024.100610</a:t>
            </a:r>
            <a:r>
              <a:rPr lang="en-US" sz="2400">
                <a:solidFill>
                  <a:srgbClr val="3D7366"/>
                </a:solidFill>
                <a:latin typeface="Times New Roman"/>
                <a:ea typeface="Times New Roman"/>
                <a:cs typeface="Times New Roman"/>
                <a:sym typeface="Times New Roman"/>
              </a:rPr>
              <a:t>. </a:t>
            </a:r>
          </a:p>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Ferronato, N. and Torretta, V. (2022). Waste mismanagement in developing countries: A review of global issues. International Journal of Environmental Research and Public Health, 19(5), p.2790.</a:t>
            </a:r>
          </a:p>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Opanuga, J. (2025). Lagos generates 13,000 tonnes of waste daily - Official | The Guardian Nigeria News - Nigeria and World News. [online] The Guardian Nigeria News - Nigeria and World News. Available at: </a:t>
            </a:r>
            <a:r>
              <a:rPr lang="en-US" sz="2400" u="sng">
                <a:solidFill>
                  <a:srgbClr val="3D7366"/>
                </a:solidFill>
                <a:latin typeface="Times New Roman"/>
                <a:ea typeface="Times New Roman"/>
                <a:cs typeface="Times New Roman"/>
                <a:sym typeface="Times New Roman"/>
                <a:hlinkClick r:id="rId8" tooltip="https://guardian.ng/news/nigeria/metro/lagos-generates-13000-tonnes-of-waste-daily-official/"/>
              </a:rPr>
              <a:t>https://guardian.ng/news/nigeria/metro/lagos-generates-13000-tonnes-of-waste-daily-official/</a:t>
            </a:r>
            <a:r>
              <a:rPr lang="en-US" sz="2400">
                <a:solidFill>
                  <a:srgbClr val="3D7366"/>
                </a:solidFill>
                <a:latin typeface="Times New Roman"/>
                <a:ea typeface="Times New Roman"/>
                <a:cs typeface="Times New Roman"/>
                <a:sym typeface="Times New Roman"/>
              </a:rPr>
              <a:t>. </a:t>
            </a:r>
          </a:p>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Osterwalder, A. and Pigneur, Y. (2010). Business Model Generation: A Handbook for Visionaries, Game Changers, and Challengers. Hoboken, New Jersey: John Wiley &amp; Sons.</a:t>
            </a:r>
          </a:p>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Osterwalder, A., Pigneur, Y., Bernarda, G. and Smith, A. (2014). Value Proposition Design: How to Create Products and Services Customers Want. Hoboken, New Jersey: John Wiley &amp; Sons.</a:t>
            </a:r>
          </a:p>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Roberts-Lombard, M. and Jaiyeoba, O. (2025). Unlocking consumer behaviour: How satisfaction and/or delight, trust and perceived value drive behavioural intentions. South African Journal of Economic and Management Sciences, [online] 28(1), p.17. Available at: </a:t>
            </a:r>
            <a:r>
              <a:rPr lang="en-US" sz="2400" u="sng">
                <a:solidFill>
                  <a:srgbClr val="3D7366"/>
                </a:solidFill>
                <a:latin typeface="Times New Roman"/>
                <a:ea typeface="Times New Roman"/>
                <a:cs typeface="Times New Roman"/>
                <a:sym typeface="Times New Roman"/>
                <a:hlinkClick r:id="rId9" tooltip="https://sajems.org/index.php/sajems/article/view/6160/3578"/>
              </a:rPr>
              <a:t>https://sajems.org/index.php/sajems/article/view/6160/3578</a:t>
            </a:r>
            <a:r>
              <a:rPr lang="en-US" sz="2400">
                <a:solidFill>
                  <a:srgbClr val="3D7366"/>
                </a:solidFill>
                <a:latin typeface="Times New Roman"/>
                <a:ea typeface="Times New Roman"/>
                <a:cs typeface="Times New Roman"/>
                <a:sym typeface="Times New Roman"/>
              </a:rPr>
              <a:t>. </a:t>
            </a:r>
          </a:p>
          <a:p>
            <a:pPr marL="518163" lvl="1" indent="-259082" algn="l">
              <a:lnSpc>
                <a:spcPts val="3120"/>
              </a:lnSpc>
              <a:buFont typeface="Arial"/>
              <a:buChar char="•"/>
            </a:pPr>
            <a:r>
              <a:rPr lang="en-US" sz="2400">
                <a:solidFill>
                  <a:srgbClr val="3D7366"/>
                </a:solidFill>
                <a:latin typeface="Times New Roman"/>
                <a:ea typeface="Times New Roman"/>
                <a:cs typeface="Times New Roman"/>
                <a:sym typeface="Times New Roman"/>
              </a:rPr>
              <a:t>Schoeman, D.C. and Rampedi, I.T. (2022). Drivers of Household Recycling Behavior in the City of Johannesburg, South Africa. International Journal of Environmental Research and Public Health, 19(10), p.6229. </a:t>
            </a:r>
            <a:r>
              <a:rPr lang="en-US" sz="2400" u="sng">
                <a:solidFill>
                  <a:srgbClr val="3D7366"/>
                </a:solidFill>
                <a:latin typeface="Times New Roman"/>
                <a:ea typeface="Times New Roman"/>
                <a:cs typeface="Times New Roman"/>
                <a:sym typeface="Times New Roman"/>
                <a:hlinkClick r:id="rId10" tooltip="https://doi.org/10.3390/ijerph19106229"/>
              </a:rPr>
              <a:t>https://doi.org/10.3390/ijerph19106229</a:t>
            </a:r>
            <a:r>
              <a:rPr lang="en-US" sz="2400">
                <a:solidFill>
                  <a:srgbClr val="3D7366"/>
                </a:solidFill>
                <a:latin typeface="Times New Roman"/>
                <a:ea typeface="Times New Roman"/>
                <a:cs typeface="Times New Roman"/>
                <a:sym typeface="Times New Roman"/>
              </a:rPr>
              <a:t>. </a:t>
            </a:r>
          </a:p>
        </p:txBody>
      </p:sp>
      <p:sp>
        <p:nvSpPr>
          <p:cNvPr id="9" name="TextBox 9"/>
          <p:cNvSpPr txBox="1"/>
          <p:nvPr/>
        </p:nvSpPr>
        <p:spPr>
          <a:xfrm>
            <a:off x="1254616" y="1235712"/>
            <a:ext cx="6844866" cy="780422"/>
          </a:xfrm>
          <a:prstGeom prst="rect">
            <a:avLst/>
          </a:prstGeom>
        </p:spPr>
        <p:txBody>
          <a:bodyPr lIns="0" tIns="0" rIns="0" bIns="0" rtlCol="0" anchor="t">
            <a:spAutoFit/>
          </a:bodyPr>
          <a:lstStyle/>
          <a:p>
            <a:pPr algn="l">
              <a:lnSpc>
                <a:spcPts val="5600"/>
              </a:lnSpc>
            </a:pPr>
            <a:r>
              <a:rPr lang="en-US" sz="5600" b="1">
                <a:solidFill>
                  <a:srgbClr val="01654F"/>
                </a:solidFill>
                <a:latin typeface="Times New Roman Bold"/>
                <a:ea typeface="Times New Roman Bold"/>
                <a:cs typeface="Times New Roman Bold"/>
                <a:sym typeface="Times New Roman Bold"/>
              </a:rPr>
              <a:t>Reference List</a:t>
            </a:r>
          </a:p>
        </p:txBody>
      </p:sp>
      <p:grpSp>
        <p:nvGrpSpPr>
          <p:cNvPr id="10" name="Group 10"/>
          <p:cNvGrpSpPr/>
          <p:nvPr/>
        </p:nvGrpSpPr>
        <p:grpSpPr>
          <a:xfrm>
            <a:off x="745339" y="310344"/>
            <a:ext cx="4670373" cy="958315"/>
            <a:chOff x="0" y="0"/>
            <a:chExt cx="6227165" cy="1277753"/>
          </a:xfrm>
        </p:grpSpPr>
        <p:sp>
          <p:nvSpPr>
            <p:cNvPr id="11" name="TextBox 11"/>
            <p:cNvSpPr txBox="1"/>
            <p:nvPr/>
          </p:nvSpPr>
          <p:spPr>
            <a:xfrm>
              <a:off x="1223795" y="309655"/>
              <a:ext cx="5003370" cy="725305"/>
            </a:xfrm>
            <a:prstGeom prst="rect">
              <a:avLst/>
            </a:prstGeom>
          </p:spPr>
          <p:txBody>
            <a:bodyPr lIns="0" tIns="0" rIns="0" bIns="0" rtlCol="0" anchor="t">
              <a:spAutoFit/>
            </a:bodyPr>
            <a:lstStyle/>
            <a:p>
              <a:pPr algn="l">
                <a:lnSpc>
                  <a:spcPts val="3833"/>
                </a:lnSpc>
              </a:pPr>
              <a:r>
                <a:rPr lang="en-US" sz="3833" b="1">
                  <a:solidFill>
                    <a:srgbClr val="01654F"/>
                  </a:solidFill>
                  <a:latin typeface="Times New Roman Bold"/>
                  <a:ea typeface="Times New Roman Bold"/>
                  <a:cs typeface="Times New Roman Bold"/>
                  <a:sym typeface="Times New Roman Bold"/>
                </a:rPr>
                <a:t>Waste2Wallet</a:t>
              </a:r>
            </a:p>
          </p:txBody>
        </p:sp>
        <p:sp>
          <p:nvSpPr>
            <p:cNvPr id="12" name="Freeform 12"/>
            <p:cNvSpPr/>
            <p:nvPr/>
          </p:nvSpPr>
          <p:spPr>
            <a:xfrm>
              <a:off x="0" y="0"/>
              <a:ext cx="1277753" cy="1277753"/>
            </a:xfrm>
            <a:custGeom>
              <a:avLst/>
              <a:gdLst/>
              <a:ahLst/>
              <a:cxnLst/>
              <a:rect l="l" t="t" r="r" b="b"/>
              <a:pathLst>
                <a:path w="1277753" h="1277753">
                  <a:moveTo>
                    <a:pt x="0" y="0"/>
                  </a:moveTo>
                  <a:lnTo>
                    <a:pt x="1277753" y="0"/>
                  </a:lnTo>
                  <a:lnTo>
                    <a:pt x="1277753" y="1277753"/>
                  </a:lnTo>
                  <a:lnTo>
                    <a:pt x="0" y="1277753"/>
                  </a:lnTo>
                  <a:lnTo>
                    <a:pt x="0" y="0"/>
                  </a:lnTo>
                  <a:close/>
                </a:path>
              </a:pathLst>
            </a:custGeom>
            <a:blipFill>
              <a:blip r:embed="rId11"/>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1936</Words>
  <Application>Microsoft Office PowerPoint</Application>
  <PresentationFormat>Custom</PresentationFormat>
  <Paragraphs>88</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Times New Roman</vt:lpstr>
      <vt:lpstr>Calibri</vt:lpstr>
      <vt:lpstr>Arial</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Illustrative Reduce Reuse Recycle Presentation</dc:title>
  <cp:lastModifiedBy>SuperKay</cp:lastModifiedBy>
  <cp:revision>14</cp:revision>
  <dcterms:created xsi:type="dcterms:W3CDTF">2006-08-16T00:00:00Z</dcterms:created>
  <dcterms:modified xsi:type="dcterms:W3CDTF">2026-05-11T16:36:12Z</dcterms:modified>
  <dc:identifier>DAHJFbz8FiA</dc:identifier>
</cp:coreProperties>
</file>